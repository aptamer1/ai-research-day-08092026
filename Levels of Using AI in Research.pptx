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F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 snapToObjects="1">
      <p:cViewPr varScale="1">
        <p:scale>
          <a:sx n="104" d="100"/>
          <a:sy n="104" d="100"/>
        </p:scale>
        <p:origin x="83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C52B13-F840-48B4-8A91-02B52A555FFB}" type="datetimeFigureOut">
              <a:rPr lang="nl-BE" smtClean="0"/>
              <a:t>28/07/2026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2002DD-0275-41CE-87EE-6CCAFDA7812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3066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Critical nuance behind this slide: an LLM actually has two different kinds of "knowing", and they behave very differently.</a:t>
            </a:r>
          </a:p>
          <a:p>
            <a:endParaRPr/>
          </a:p>
          <a:p>
            <a:r>
              <a:t>1) Parametric knowledge (baked into the weights during training) - this is the huge amount of data it was trained on. It's real, but it's compressed and statistical, not a lookup table. The model doesn't store documents verbatim; it stores patterns and associations distilled from billions of examples. This is also exactly why it defaults to average (slide 4): parametric knowledge is a blend of everything similar it has ever seen, not a precise fact.</a:t>
            </a:r>
          </a:p>
          <a:p>
            <a:endParaRPr/>
          </a:p>
          <a:p>
            <a:r>
              <a:t>2) Contextual knowledge (what's in the window right now) - specific, verbatim, and current. The model can quote it, reason over its exact wording, and treat it as ground truth for this conversation.</a:t>
            </a:r>
          </a:p>
          <a:p>
            <a:endParaRPr/>
          </a:p>
          <a:p>
            <a:r>
              <a:t>Why the context window still matters despite all that training data:</a:t>
            </a:r>
          </a:p>
          <a:p>
            <a:r>
              <a:t>- Frozen in time: training has a cutoff, so it cannot know your specific proposal, this year's call text, or anything that didn't exist (or wasn't public) when it was trained.</a:t>
            </a:r>
          </a:p>
          <a:p>
            <a:r>
              <a:t>- Never saw your specifics: it was never trained on your unpublished draft or your institution's internal criteria - those aren't in there to retrieve, at any resolution.</a:t>
            </a:r>
          </a:p>
          <a:p>
            <a:r>
              <a:t>- Fuzzy, not verbatim: even for things it was trained on, it's recalling a statistical blend, not a citation - ask it to quote exact numbers from memory and it will often confidently invent something plausible (the "confidently invented" line from slide 3).</a:t>
            </a:r>
          </a:p>
          <a:p>
            <a:r>
              <a:t>- Averaged, not excellent: training gives the generic version of "how a grant proposal usually looks"; context is what pulls it away from that average and grounds it in your specific, excellent case.</a:t>
            </a:r>
          </a:p>
          <a:p>
            <a:endParaRPr/>
          </a:p>
          <a:p>
            <a:r>
              <a:t>One-line answer if asked live: what's not in the window doesn't exist to the model as a fact it can verify or quote - only, at best, as a fuzzy statistical guess from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uhasselt.be/nl/aparte-sites-uhasselt/ai-uhasselt/ai-tools" TargetMode="Externa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uhasselt.be/nl/aparte-sites-uhasselt/ai-uhasselt/ai-tools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ris_title_shape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0" y="-713317"/>
            <a:ext cx="12204700" cy="4737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480560"/>
            <a:ext cx="91440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08/Sept/2026: </a:t>
            </a:r>
            <a:r>
              <a:rPr sz="1400" b="1" dirty="0">
                <a:solidFill>
                  <a:srgbClr val="2A78D6"/>
                </a:solidFill>
                <a:latin typeface="Segoe UI Semibold"/>
              </a:rPr>
              <a:t>AI </a:t>
            </a:r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in research</a:t>
            </a:r>
            <a:endParaRPr sz="14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4882896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600" b="1">
                <a:solidFill>
                  <a:srgbClr val="0B0B0B"/>
                </a:solidFill>
                <a:latin typeface="Segoe UI Semibold"/>
              </a:rPr>
              <a:t>Levels of Using AI in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15584"/>
            <a:ext cx="96012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dirty="0">
                <a:solidFill>
                  <a:srgbClr val="52514E"/>
                </a:solidFill>
                <a:latin typeface="Segoe UI"/>
              </a:rPr>
              <a:t>From a trainee who knows nothing to a trusted colleague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898781"/>
                </a:solidFill>
                <a:latin typeface="Segoe UI"/>
              </a:rPr>
              <a:t>S</a:t>
            </a:r>
            <a:r>
              <a:rPr lang="nl-BE" sz="1400" b="0" dirty="0">
                <a:solidFill>
                  <a:srgbClr val="898781"/>
                </a:solidFill>
                <a:latin typeface="Segoe UI"/>
              </a:rPr>
              <a:t>ö</a:t>
            </a:r>
            <a:r>
              <a:rPr sz="1400" b="0" dirty="0">
                <a:solidFill>
                  <a:srgbClr val="898781"/>
                </a:solidFill>
                <a:latin typeface="Segoe UI"/>
              </a:rPr>
              <a:t>ren Kuypers  ·  OBI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-137616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07268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10" y="4023784"/>
            <a:ext cx="3077633" cy="72390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IN THE NEXT 12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Think of AI as a trainee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88720" y="464058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2819399" y="420624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450080" y="377190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80759" y="333756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11440" y="290322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342120" y="246888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96696" y="4882896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36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34009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Cold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61441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no context, mixed results</a:t>
            </a:r>
          </a:p>
        </p:txBody>
      </p:sp>
      <p:sp>
        <p:nvSpPr>
          <p:cNvPr id="14" name="Oval 13"/>
          <p:cNvSpPr/>
          <p:nvPr/>
        </p:nvSpPr>
        <p:spPr>
          <a:xfrm>
            <a:off x="2583179" y="4404360"/>
            <a:ext cx="472439" cy="472439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13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159" y="494995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Add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2159" y="5224272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hand over files to read</a:t>
            </a:r>
          </a:p>
        </p:txBody>
      </p:sp>
      <p:sp>
        <p:nvSpPr>
          <p:cNvPr id="17" name="Oval 16"/>
          <p:cNvSpPr/>
          <p:nvPr/>
        </p:nvSpPr>
        <p:spPr>
          <a:xfrm>
            <a:off x="4169663" y="3925823"/>
            <a:ext cx="560832" cy="560832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9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840" y="455980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Master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840" y="4834128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search &amp; retrieve knowledge</a:t>
            </a:r>
          </a:p>
        </p:txBody>
      </p:sp>
      <p:sp>
        <p:nvSpPr>
          <p:cNvPr id="20" name="Oval 19"/>
          <p:cNvSpPr/>
          <p:nvPr/>
        </p:nvSpPr>
        <p:spPr>
          <a:xfrm>
            <a:off x="5756148" y="3447288"/>
            <a:ext cx="649224" cy="649224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68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16966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Skills &amp;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44398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trusted with real tasks</a:t>
            </a:r>
          </a:p>
        </p:txBody>
      </p:sp>
      <p:sp>
        <p:nvSpPr>
          <p:cNvPr id="23" name="Oval 22"/>
          <p:cNvSpPr/>
          <p:nvPr/>
        </p:nvSpPr>
        <p:spPr>
          <a:xfrm>
            <a:off x="7342632" y="2968752"/>
            <a:ext cx="737616" cy="7376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45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4200" y="377952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Multiple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053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one writes, another reviews</a:t>
            </a:r>
          </a:p>
        </p:txBody>
      </p:sp>
      <p:sp>
        <p:nvSpPr>
          <p:cNvPr id="26" name="Oval 25"/>
          <p:cNvSpPr/>
          <p:nvPr/>
        </p:nvSpPr>
        <p:spPr>
          <a:xfrm>
            <a:off x="8929116" y="2490216"/>
            <a:ext cx="826008" cy="8260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22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4880" y="338937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Loops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66369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dirty="0">
                <a:solidFill>
                  <a:srgbClr val="52514E"/>
                </a:solidFill>
                <a:latin typeface="Segoe UI"/>
              </a:rPr>
              <a:t>agents that iterate on their own</a:t>
            </a:r>
          </a:p>
        </p:txBody>
      </p:sp>
      <p:sp>
        <p:nvSpPr>
          <p:cNvPr id="29" name="Oval 28"/>
          <p:cNvSpPr/>
          <p:nvPr/>
        </p:nvSpPr>
        <p:spPr>
          <a:xfrm>
            <a:off x="10515600" y="201168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999232"/>
            <a:ext cx="1554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1200" b="1" dirty="0">
                <a:solidFill>
                  <a:srgbClr val="0B0B0B"/>
                </a:solidFill>
                <a:latin typeface="Segoe UI Semibold"/>
              </a:rPr>
              <a:t>Full control</a:t>
            </a:r>
            <a:endParaRPr sz="12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195560" y="3273552"/>
            <a:ext cx="1554480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Local</a:t>
            </a:r>
            <a:r>
              <a:rPr lang="nl-BE" sz="950" b="0" dirty="0">
                <a:solidFill>
                  <a:srgbClr val="52514E"/>
                </a:solidFill>
                <a:latin typeface="Segoe UI"/>
              </a:rPr>
              <a:t> </a:t>
            </a:r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models</a:t>
            </a:r>
            <a:endParaRPr sz="9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5760" y="4590288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190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Trusted colleague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39" name="Picture 38" descr="repo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6160" y="5193792"/>
            <a:ext cx="777240" cy="7772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57560" y="598932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595959"/>
                </a:solidFill>
              </a:rPr>
              <a:t>github.com/Aptamer1/ai-research-day-08092026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1 · COLD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A trainee with zero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72768" y="2286000"/>
            <a:ext cx="3017520" cy="169164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assignment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prompt)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a task, no background,
no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17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LLM)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zero context in the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part genuinely solid,
part confidently invented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900" b="1">
                <a:solidFill>
                  <a:srgbClr val="0B0B0B"/>
                </a:solidFill>
                <a:latin typeface="Segoe UI"/>
              </a:rPr>
              <a:t>A smarter trainee might help — </a:t>
            </a:r>
            <a:r>
              <a:rPr sz="1900" b="0">
                <a:solidFill>
                  <a:srgbClr val="52514E"/>
                </a:solidFill>
                <a:latin typeface="Segoe UI"/>
              </a:rPr>
              <a:t>but so do other strategies. The next levels explore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1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LLMs predict the average. Research needs excellence.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38375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This gap is the challenge — </a:t>
            </a:r>
            <a:r>
              <a:rPr sz="1700" b="0">
                <a:solidFill>
                  <a:srgbClr val="52514E"/>
                </a:solidFill>
                <a:latin typeface="Segoe UI"/>
              </a:rPr>
              <a:t>models default to average; research needs the right tail.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The next levels are strategies to close it: </a:t>
            </a:r>
            <a:r>
              <a:rPr sz="1700" b="0">
                <a:solidFill>
                  <a:srgbClr val="52514E"/>
                </a:solidFill>
                <a:latin typeface="Segoe UI"/>
              </a:rPr>
              <a:t>context, skills, second opinions, and more — not just a smarter trainee.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11" name="Picture 10" descr="pic10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6996" y="1371600"/>
            <a:ext cx="5394960" cy="2892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2 · ADD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something to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94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96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 dirty="0">
                <a:solidFill>
                  <a:srgbClr val="0B0B0B"/>
                </a:solidFill>
                <a:latin typeface="Segoe UI Semibold"/>
              </a:rPr>
              <a:t>+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70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84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88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502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fewer blanks filled
in from guesswork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0424160" cy="1159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drag a file into the chat — read once, part of this conversation only.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attach a file to a message — same idea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Copilot: 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Upload </a:t>
            </a:r>
            <a:r>
              <a:rPr lang="nl-BE" sz="1550" dirty="0" err="1">
                <a:solidFill>
                  <a:srgbClr val="0B0B0B"/>
                </a:solidFill>
                <a:latin typeface="Segoe UI"/>
              </a:rPr>
              <a:t>possible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, but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type “/” in the chat to pull a file straight from SharePoint or OneDrive — no upload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39390"/>
            <a:ext cx="10424160" cy="130000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some models read PDFs and images far better than others — ask a model to summarize a PDF or image into text first.</a:t>
            </a:r>
            <a:endParaRPr lang="nl-BE" sz="1300" b="0" dirty="0">
              <a:solidFill>
                <a:srgbClr val="52514E"/>
              </a:solidFill>
              <a:latin typeface="Segoe UI"/>
            </a:endParaRPr>
          </a:p>
          <a:p>
            <a:pPr algn="l"/>
            <a:endParaRPr sz="1300" b="0" dirty="0">
              <a:solidFill>
                <a:srgbClr val="52514E"/>
              </a:solidFill>
              <a:latin typeface="Segoe UI"/>
            </a:endParaRPr>
          </a:p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attach a strong worked example alongside the assignment — showing what “good” looks like lifts quality more than describing it (few-shot beats instructions alone).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2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ord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The context window is the key to better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2A78D6"/>
                </a:solidFill>
                <a:latin typeface="Segoe UI Semibold"/>
              </a:rPr>
              <a:t>CONTEXT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System prompt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(you can't change this)</a:t>
            </a:r>
          </a:p>
          <a:p>
            <a:r>
              <a:rPr sz="1000" b="0">
                <a:solidFill>
                  <a:srgbClr val="52514E"/>
                </a:solidFill>
                <a:latin typeface="Segoe UI"/>
              </a:rPr>
              <a:t>standing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(user prompt)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what you're asking
right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Files &amp; history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attached content,
chat so far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59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output)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34840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700" b="1" dirty="0">
                <a:solidFill>
                  <a:srgbClr val="0B0B0B"/>
                </a:solidFill>
                <a:latin typeface="Segoe UI"/>
              </a:rPr>
              <a:t>What's not inside this window doesn't exist to the model</a:t>
            </a:r>
            <a:endParaRPr sz="170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80000"/>
            <a:ext cx="1042416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Training still gives it general, averaged knowledge — the window is what makes it specific, current, and checkable.</a:t>
            </a:r>
          </a:p>
        </p:txBody>
      </p:sp>
      <p:pic>
        <p:nvPicPr>
          <p:cNvPr id="27" name="Picture 26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Instead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giving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it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something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to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read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, let it search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through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knowledge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base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572768" y="1780687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0488" y="1789831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+ Searches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a knowledge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73908" y="2274463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dirty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9209" y="1776115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2088" y="230646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780687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grounded in what was
actually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93592"/>
            <a:ext cx="10424160" cy="2318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One way to do this is RAG — Retrieval-Augmented Generation: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the model searches your documents at question time instead of having them all preloaded.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>
              <a:spcAft>
                <a:spcPts val="800"/>
              </a:spcAft>
            </a:pPr>
            <a:r>
              <a:rPr lang="nl-BE" sz="1550" b="1" dirty="0">
                <a:solidFill>
                  <a:schemeClr val="tx2"/>
                </a:solidFill>
                <a:latin typeface="Segoe UI"/>
              </a:rPr>
              <a:t>How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to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apply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?</a:t>
            </a:r>
            <a:endParaRPr sz="1550" b="1" dirty="0">
              <a:solidFill>
                <a:schemeClr val="tx2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Projects auto-expand past the context window on any plan, including free — RAG kicks in automatically for up to 10x more capacity, no setup needed.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Custom GPTs chunk, embed, and search up to 20 knowledge files at question time (creating one needs ChatGPT Plus).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 Studio: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can set this up over a linked SharePoint folder, semantically indexing up to 1,000 files automatically.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  <a:endParaRPr sz="15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SKILLS &amp;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A skill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+ tools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turns 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llm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into a specialist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(agent)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737360" y="1920240"/>
            <a:ext cx="8686800" cy="210312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90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79" y="20574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EB6834"/>
                </a:solidFill>
                <a:latin typeface="Segoe UI Semibold"/>
              </a:rP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LLM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the brain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Tools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what it can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a reusable
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424160" cy="1292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A skill is a reusable procedure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instructions, written once, that it follows automatically when relevant.</a:t>
            </a:r>
            <a:endParaRPr lang="nl-BE" sz="160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lang="en-US" sz="1600" b="1" dirty="0">
                <a:solidFill>
                  <a:srgbClr val="0B0B0B"/>
                </a:solidFill>
                <a:latin typeface="Segoe UI"/>
              </a:rPr>
              <a:t>It doesn't replace the agent; it specializes it — </a:t>
            </a:r>
            <a:r>
              <a:rPr lang="en-US" sz="1600" b="0" dirty="0">
                <a:solidFill>
                  <a:srgbClr val="52514E"/>
                </a:solidFill>
                <a:latin typeface="Segoe UI"/>
              </a:rPr>
              <a:t>“turns a general-purpose agent into a specialist.”</a:t>
            </a:r>
          </a:p>
          <a:p>
            <a:pPr>
              <a:spcBef>
                <a:spcPts val="800"/>
              </a:spcBef>
            </a:pPr>
            <a:r>
              <a:rPr lang="nl-BE" sz="1600" b="1" dirty="0">
                <a:solidFill>
                  <a:srgbClr val="0B0B0B"/>
                </a:solidFill>
                <a:latin typeface="Segoe UI"/>
              </a:rPr>
              <a:t>Open standard</a:t>
            </a:r>
            <a:r>
              <a:rPr sz="1600" b="1" dirty="0">
                <a:solidFill>
                  <a:srgbClr val="0B0B0B"/>
                </a:solidFill>
                <a:latin typeface="Segoe UI"/>
              </a:rPr>
              <a:t>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since Dec 2025, SKILL.md is an open standard — the same skill file now works across Claude, ChatGPT, Codex CLI, Gemini, and Copilot.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a memory: the “LLM wiki”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A different way to retrieve knowledge: instead of re-searching raw documents on every question, the LLM compiles a persistent, growing wiki and keeps it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maintain a persistent markdown wiki instead of answering straight from raw files — sources are read once, then compiled into pages that keep growing.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Structure: raw/ (untouched sources) → wiki/ (the pages you maintain) → a schema file (e.g. CLAUDE.md) that tells you how to file, cross-reference, and answer.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Ingest: when I add a new source, read it, then update the relevant wiki pages — entity pages, topic summaries, an index — and flag anything that contradicts what's already there.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Query: when I ask a question, check the index first, then the pages it points to, and answer with what the wiki already knows — don't start from scratch.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Lint: periodically health-check the wiki for orphan pages, stale claims, and missing cross-references.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AC67BDB-77F7-9844-F77C-561263480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232" y="2340863"/>
            <a:ext cx="4771736" cy="3538729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“Grill me” on your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Adapted from Matt Pocock's </a:t>
            </a:r>
            <a:r>
              <a:rPr sz="1300" b="0">
                <a:solidFill>
                  <a:srgbClr val="52514E"/>
                </a:solidFill>
                <a:latin typeface="Consolas"/>
              </a:rPr>
              <a:t>/grill-me</a:t>
            </a:r>
            <a:r>
              <a:rPr sz="1300" b="0">
                <a:solidFill>
                  <a:srgbClr val="898781"/>
                </a:solidFill>
                <a:latin typeface="Segoe UI"/>
              </a:rPr>
              <a:t> coding skill (74k+ GitHub stars) — same idea, aimed at a proposal instead of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are a skeptical senior PI reviewing a colleague's research proposal — not helping write it, interrogating it.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Ask one hard question at a time about the proposal pasted below</a:t>
            </a:r>
            <a:r>
              <a:rPr lang="nl-BE" sz="1050" b="0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050" b="0" dirty="0" err="1">
                <a:solidFill>
                  <a:srgbClr val="0B0B0B"/>
                </a:solidFill>
                <a:latin typeface="Consolas"/>
              </a:rPr>
              <a:t>attached</a:t>
            </a:r>
            <a:r>
              <a:rPr sz="1050" b="0" dirty="0">
                <a:solidFill>
                  <a:srgbClr val="0B0B0B"/>
                </a:solidFill>
                <a:latin typeface="Consolas"/>
              </a:rPr>
              <a:t>. Focus on the core claim, why it's novel, what could make it fail, and whether the method actually tests the hypothesis.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Don't move on until I've given a real answer — push back if it's vague.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Stop after 8-10 questions, then summarize the 3 weakest points still unresolved.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A253642-2C18-0353-D670-34EDF4795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82" y="2340863"/>
            <a:ext cx="4642919" cy="3637027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Teach it to stress-test a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1202436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Specific assignment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the prompt, not a generic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5720" y="1202436"/>
            <a:ext cx="2319528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17179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8659" y="1202436"/>
            <a:ext cx="2766061" cy="105156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a structured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Real prompts from Mads Lykke Berggreen — research adviser, VIA University College (Denmark), active in EARMA (European Association of Research Managers and Administrators)'s AI community: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Act as a strict Horizon Europe grant evaluator. Read the following draft section of my proposal.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Identify logical gaps, weak impact pathways, and unconvincing methodology claims.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Give me 3 concrete ways to make this argument sharper and more authentic.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CRITICAL REVIEWER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Review this project concept text.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Highlight any invisible blind spots, lack of inclusivity, or underrepresented stakeholder perspectives that a human panel might penalize.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BIAS &amp; OMISSION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>
                <a:solidFill>
                  <a:srgbClr val="898781"/>
                </a:solidFill>
                <a:latin typeface="Segoe UI"/>
              </a:rPr>
              <a:t>Same pattern works with your own checklist — e.g. OBI's admissibility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26" name="Rounded Rectangle 5"/>
          <p:cNvSpPr/>
          <p:nvPr/>
        </p:nvSpPr>
        <p:spPr>
          <a:xfrm>
            <a:off x="6416040" y="1202436"/>
            <a:ext cx="1417319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dirty="0">
                <a:solidFill>
                  <a:srgbClr val="0B0B0B"/>
                </a:solidFill>
                <a:latin typeface="Segoe UI Semibold"/>
              </a:rPr>
              <a:t>+ Search</a:t>
            </a:r>
          </a:p>
          <a:p>
            <a:pPr algn="ctr"/>
            <a:r>
              <a:rPr lang="nl-BE" sz="950" b="0" dirty="0">
                <a:solidFill>
                  <a:srgbClr val="0B0B0B"/>
                </a:solidFill>
                <a:latin typeface="Segoe UI"/>
              </a:rPr>
              <a:t>Knowledge base </a:t>
            </a:r>
            <a:r>
              <a:rPr lang="nl-BE" sz="950" b="0" dirty="0" err="1">
                <a:solidFill>
                  <a:srgbClr val="0B0B0B"/>
                </a:solidFill>
                <a:latin typeface="Segoe UI"/>
              </a:rPr>
              <a:t>containing</a:t>
            </a:r>
            <a:r>
              <a:rPr lang="nl-BE" sz="950" b="0" dirty="0">
                <a:solidFill>
                  <a:srgbClr val="0B0B0B"/>
                </a:solidFill>
                <a:latin typeface="Segoe UI"/>
              </a:rPr>
              <a:t> criteria</a:t>
            </a:r>
            <a:endParaRPr sz="950" b="0" dirty="0">
              <a:solidFill>
                <a:srgbClr val="0B0B0B"/>
              </a:solidFill>
              <a:latin typeface="Segoe UI"/>
            </a:endParaRPr>
          </a:p>
        </p:txBody>
      </p:sp>
      <p:pic>
        <p:nvPicPr>
          <p:cNvPr id="28" name="Picture 2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MORE 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More prompts worth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Act as a collaborative team of EU funding advisors. Deconstruct this call text for [Insert Topic] and list the mandatory compliance hurdles, core Key Performance Indicators (KPIs), and strategic alignment requirements we must address in the work package.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2907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Take this heavily jargon-filled project summary and rewrite it to retain technical accuracy while improving readability and engagement for a diverse evaluation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54294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Act as a research administration expert. Based on a process where pre-award grant writing is heavily automated, help me outline a strategic roadmap for our institutional support team to shift focus toward high-value human tasks like consortium building and impact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898781"/>
                </a:solidFill>
                <a:latin typeface="Segoe UI"/>
              </a:rPr>
              <a:t>First three: Mads Lykke Berggreen, EARMA AI community.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DECONSTRUCT THE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907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PLAIN-LANGUAGE POLISH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4294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WORKFLOW AUDIT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8715681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2A78D6"/>
                </a:solidFill>
                <a:latin typeface="Segoe UI Semibold"/>
              </a:rPr>
              <a:t>CONSISTENCY CHECK</a:t>
            </a:r>
          </a:p>
        </p:txBody>
      </p:sp>
      <p:sp>
        <p:nvSpPr>
          <p:cNvPr id="23" name="Rounded Rectangle 5"/>
          <p:cNvSpPr/>
          <p:nvPr/>
        </p:nvSpPr>
        <p:spPr>
          <a:xfrm>
            <a:off x="8715681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>
                <a:solidFill>
                  <a:srgbClr val="0B0B0B"/>
                </a:solidFill>
                <a:latin typeface="Consolas"/>
              </a:rPr>
              <a:t>Check this proposal for consistency: fonts and heading styles, table and figure numbering and captions, and section numbering. Then check every reference against [insert citation style, e.g. APA / Vancouver / IEEE] and flag any that don't match — offer to convert the whole list to [insert target style] if I ask.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1839520"/>
            <a:ext cx="207923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Turns a call text into a compliance &amp; KPI checklist.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2907" y="1848663"/>
            <a:ext cx="2250511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Rewrites jargon so any evaluator can follow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39520"/>
            <a:ext cx="2295144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Shows where automation frees up staff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5681" y="1839520"/>
            <a:ext cx="2357703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Catches formatting and citation-style mismatches.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5 · MULTIPLE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One model writes, another reviews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A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drafts the proposal
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B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critiques it,
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Semibold"/>
              </a:rPr>
              <a:t>Revised draft</a:t>
            </a:r>
          </a:p>
          <a:p>
            <a:pPr algn="ctr"/>
            <a:r>
              <a:rPr sz="1200" b="0" i="1">
                <a:solidFill>
                  <a:srgbClr val="FFFFFF"/>
                </a:solidFill>
                <a:latin typeface="Segoe UI"/>
              </a:rPr>
              <a:t>stronger for having
survived a second opinion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800" b="1">
                <a:solidFill>
                  <a:srgbClr val="0B0B0B"/>
                </a:solidFill>
                <a:latin typeface="Segoe UI"/>
              </a:rPr>
              <a:t>Different vendors, different blind spots — </a:t>
            </a:r>
            <a:r>
              <a:rPr sz="1800" b="0">
                <a:solidFill>
                  <a:srgbClr val="52514E"/>
                </a:solidFill>
                <a:latin typeface="Segoe UI"/>
              </a:rPr>
              <a:t>a second opinion catches what the first model's own bias would miss.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5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6 ·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gent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(s)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looping, or several 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91558"/>
            <a:ext cx="47548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dirty="0">
                <a:solidFill>
                  <a:srgbClr val="0B0B0B"/>
                </a:solidFill>
                <a:latin typeface="Segoe UI Semibold"/>
              </a:rPr>
              <a:t>One</a:t>
            </a:r>
            <a:r>
              <a:rPr lang="nl-BE" sz="1600" b="1" dirty="0">
                <a:solidFill>
                  <a:srgbClr val="0B0B0B"/>
                </a:solidFill>
                <a:latin typeface="Segoe UI Semibold"/>
              </a:rPr>
              <a:t>/multiple</a:t>
            </a:r>
            <a:r>
              <a:rPr sz="1600" b="1" dirty="0">
                <a:solidFill>
                  <a:srgbClr val="0B0B0B"/>
                </a:solidFill>
                <a:latin typeface="Segoe UI Semibold"/>
              </a:rPr>
              <a:t> agent, self-loop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541366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 Semibold"/>
              </a:rPr>
              <a:t>Draft → Review → Revise</a:t>
            </a:r>
          </a:p>
        </p:txBody>
      </p:sp>
      <p:sp>
        <p:nvSpPr>
          <p:cNvPr id="6" name="Circular Arrow 5"/>
          <p:cNvSpPr/>
          <p:nvPr/>
        </p:nvSpPr>
        <p:spPr>
          <a:xfrm rot="5400000">
            <a:off x="3954780" y="2052163"/>
            <a:ext cx="868680" cy="86868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151147"/>
              <a:gd name="adj5" fmla="val 125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91296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0">
                <a:solidFill>
                  <a:srgbClr val="898781"/>
                </a:solidFill>
                <a:latin typeface="Segoe UI"/>
              </a:rPr>
              <a:t>repeats until the exit condition is 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92225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Multiple agents, specialised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295145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Orchestrator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7269479" y="2980945"/>
            <a:ext cx="1600201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5836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Writer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0" y="2980945"/>
            <a:ext cx="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838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Reviewer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69680" y="2980945"/>
            <a:ext cx="160020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4080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Fact-checker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0000"/>
            <a:ext cx="10424160" cy="1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Multiple, not just one: </a:t>
            </a:r>
            <a:r>
              <a:rPr sz="1500" b="0">
                <a:solidFill>
                  <a:srgbClr val="52514E"/>
                </a:solidFill>
                <a:latin typeface="Segoe UI"/>
              </a:rPr>
              <a:t>brief several reviewer agents with different expertise (methodology, ethics, funder priorities) and let them debate the same draft in the loop.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Fully unattended: </a:t>
            </a:r>
            <a:r>
              <a:rPr sz="1500" b="0">
                <a:solidFill>
                  <a:srgbClr val="52514E"/>
                </a:solidFill>
                <a:latin typeface="Segoe UI"/>
              </a:rPr>
              <a:t>a scheduled job (e.g. a cron job) can run the whole loop with no human until it's done.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Either way, a human sets the exit condition — </a:t>
            </a:r>
            <a:r>
              <a:rPr sz="1500" b="0">
                <a:solidFill>
                  <a:srgbClr val="52514E"/>
                </a:solidFill>
                <a:latin typeface="Segoe UI"/>
              </a:rPr>
              <a:t>automation compounds small errors just as fast as small improvements.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6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7 · FULL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Some models you can run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Cloud (frontier models)</a:t>
            </a:r>
          </a:p>
          <a:p>
            <a:pPr algn="ctr"/>
            <a:r>
              <a:rPr sz="1250" b="0">
                <a:solidFill>
                  <a:srgbClr val="52514E"/>
                </a:solidFill>
                <a:latin typeface="Segoe UI"/>
              </a:rPr>
              <a:t>Best all-round quality, zero setup.
Your data leaves your machine.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Local (open-source models)</a:t>
            </a:r>
          </a:p>
          <a:p>
            <a:pPr algn="ctr"/>
            <a:r>
              <a:rPr sz="1200" b="0">
                <a:solidFill>
                  <a:srgbClr val="52514E"/>
                </a:solidFill>
                <a:latin typeface="Segoe UI"/>
              </a:rPr>
              <a:t>Runs on a capable personal workstation —
data never leaves it. Improving fast, and
some specialised models now rival the
frontier on focused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315468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898781"/>
                </a:solidFill>
                <a:latin typeface="Segoe UI Semibold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pic>
        <p:nvPicPr>
          <p:cNvPr id="20" name="Picture 1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WRAPPING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424160" cy="3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Every level narrows the same gap: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average to excellent — sometimes with context, sometimes with a skill, a second model, or a loop.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Most people quit at Level 1's disappointing first impression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Levels 2 and 3 alone already change the experience.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Levels 4 to 6 are where research teams start actually delegating: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skills, second opinions, review loops.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 7 is optional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interesting, but not where most of the value is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sp>
        <p:nvSpPr>
          <p:cNvPr id="16" name="Rounded Rectangle 10"/>
          <p:cNvSpPr/>
          <p:nvPr/>
        </p:nvSpPr>
        <p:spPr>
          <a:xfrm>
            <a:off x="731520" y="4572000"/>
            <a:ext cx="10424160" cy="123444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>
                <a:solidFill>
                  <a:srgbClr val="0B0B0B"/>
                </a:solidFill>
                <a:latin typeface="Segoe UI"/>
              </a:rPr>
              <a:t>It's a tool, not a replacement: </a:t>
            </a:r>
            <a:r>
              <a:rPr sz="1500" b="0">
                <a:solidFill>
                  <a:srgbClr val="52514E"/>
                </a:solidFill>
                <a:latin typeface="Segoe UI"/>
              </a:rPr>
              <a:t>it sharpens the work and buys back your time — the insight, and the credit, stay with the researcher.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Stay critical: </a:t>
            </a:r>
            <a:r>
              <a:rPr sz="1500" b="0">
                <a:solidFill>
                  <a:srgbClr val="52514E"/>
                </a:solidFill>
                <a:latin typeface="Segoe UI"/>
              </a:rPr>
              <a:t>when in doubt, ask it to explain itself and back its claims with sources.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987741"/>
            <a:ext cx="104241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0B0B0B"/>
                </a:solidFill>
                <a:latin typeface="Segoe UI"/>
              </a:rPr>
              <a:t>Handling sensitive proposal data? 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Check </a:t>
            </a:r>
            <a:r>
              <a:rPr sz="1200" b="0" u="sng" dirty="0" err="1">
                <a:solidFill>
                  <a:srgbClr val="2A78D6"/>
                </a:solidFill>
                <a:latin typeface="Segoe UI"/>
                <a:hlinkClick r:id="rId3"/>
              </a:rPr>
              <a:t>UHasselt's</a:t>
            </a:r>
            <a:r>
              <a:rPr sz="1200" b="0" u="sng" dirty="0">
                <a:solidFill>
                  <a:srgbClr val="2A78D6"/>
                </a:solidFill>
                <a:latin typeface="Segoe UI"/>
                <a:hlinkClick r:id="rId3"/>
              </a:rPr>
              <a:t> AI-tools guidance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 before you paste anything into a tool.</a:t>
            </a:r>
          </a:p>
        </p:txBody>
      </p:sp>
      <p:pic>
        <p:nvPicPr>
          <p:cNvPr id="19" name="Picture 18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Is Copilot trustworthy with our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784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SURF's DPIA on Microsoft 365 Copilot: </a:t>
            </a:r>
            <a:r>
              <a:rPr sz="1600" b="0">
                <a:solidFill>
                  <a:srgbClr val="52514E"/>
                </a:solidFill>
                <a:latin typeface="Segoe UI"/>
              </a:rPr>
              <a:t>4 high risks flagged in 2024 ('red') → down to 2 medium risks in 2025 ('orange'). Real, measured improvement — not a finished picture.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It keeps evolving: </a:t>
            </a:r>
            <a:r>
              <a:rPr sz="1600" b="0">
                <a:solidFill>
                  <a:srgbClr val="52514E"/>
                </a:solidFill>
                <a:latin typeface="Segoe UI"/>
              </a:rPr>
              <a:t>expect the risk assessment to keep shifting as Microsoft and SURF update it — worth rechecking, not a one-time verdict.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Institutional guidance: </a:t>
            </a:r>
            <a:r>
              <a:rPr sz="1600" b="0" u="sng">
                <a:solidFill>
                  <a:srgbClr val="2A78D6"/>
                </a:solidFill>
                <a:latin typeface="Segoe UI"/>
                <a:hlinkClick r:id="rId3"/>
              </a:rPr>
              <a:t>UHasselt's AI-tools page</a:t>
            </a:r>
            <a:r>
              <a:rPr sz="1600" b="0">
                <a:solidFill>
                  <a:srgbClr val="52514E"/>
                </a:solidFill>
                <a:latin typeface="Segoe UI"/>
              </a:rPr>
              <a:t> covers what's approved, for which tool, for which use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148072"/>
            <a:ext cx="10424160" cy="896112"/>
          </a:xfrm>
          <a:prstGeom prst="roundRect">
            <a:avLst/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 dirty="0">
                <a:solidFill>
                  <a:srgbClr val="0B0B0B"/>
                </a:solidFill>
                <a:latin typeface="Segoe UI"/>
              </a:rPr>
              <a:t>The trend is the right one: </a:t>
            </a:r>
            <a:r>
              <a:rPr sz="1500" b="0" dirty="0">
                <a:solidFill>
                  <a:srgbClr val="52514E"/>
                </a:solidFill>
                <a:latin typeface="Segoe UI"/>
              </a:rPr>
              <a:t>risk keeps dropping as the tooling matures — a reason for due diligence today, not a reason to wait.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11" name="Picture 10" descr="repo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6160" y="5193792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57560" y="5989320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595959"/>
                </a:solidFill>
              </a:rPr>
              <a:t>github.com/Aptamer1/ai-research-day-08092026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2523</Words>
  <Application>Microsoft Office PowerPoint</Application>
  <PresentationFormat>Widescreen</PresentationFormat>
  <Paragraphs>272</Paragraphs>
  <Slides>17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KUYPERS Soren</cp:lastModifiedBy>
  <cp:revision>30</cp:revision>
  <dcterms:created xsi:type="dcterms:W3CDTF">2013-01-27T09:14:16Z</dcterms:created>
  <dcterms:modified xsi:type="dcterms:W3CDTF">2026-07-28T11:42:50Z</dcterms:modified>
  <cp:category/>
</cp:coreProperties>
</file>