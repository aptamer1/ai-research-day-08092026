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64" r:id="rId11"/>
    <p:sldId id="265" r:id="rId12"/>
    <p:sldId id="266" r:id="rId13"/>
    <p:sldId id="273" r:id="rId14"/>
    <p:sldId id="267" r:id="rId15"/>
    <p:sldId id="268" r:id="rId16"/>
    <p:sldId id="269" r:id="rId17"/>
    <p:sldId id="270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EF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47" autoAdjust="0"/>
  </p:normalViewPr>
  <p:slideViewPr>
    <p:cSldViewPr snapToGrid="0" snapToObjects="1">
      <p:cViewPr varScale="1">
        <p:scale>
          <a:sx n="104" d="100"/>
          <a:sy n="104" d="100"/>
        </p:scale>
        <p:origin x="834" y="5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C52B13-F840-48B4-8A91-02B52A555FFB}" type="datetimeFigureOut">
              <a:rPr lang="nl-BE" smtClean="0"/>
              <a:t>28/07/2026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2002DD-0275-41CE-87EE-6CCAFDA7812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73066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Critical nuance behind this slide: an LLM actually has two different kinds of "knowing", and they behave very differently.</a:t>
            </a:r>
          </a:p>
          <a:p>
            <a:endParaRPr/>
          </a:p>
          <a:p>
            <a:r>
              <a:t>1) Parametric knowledge (baked into the weights during training) - this is the huge amount of data it was trained on. It's real, but it's compressed and statistical, not a lookup table. The model doesn't store documents verbatim; it stores patterns and associations distilled from billions of examples. This is also exactly why it defaults to average (slide 4): parametric knowledge is a blend of everything similar it has ever seen, not a precise fact.</a:t>
            </a:r>
          </a:p>
          <a:p>
            <a:endParaRPr/>
          </a:p>
          <a:p>
            <a:r>
              <a:t>2) Contextual knowledge (what's in the window right now) - specific, verbatim, and current. The model can quote it, reason over its exact wording, and treat it as ground truth for this conversation.</a:t>
            </a:r>
          </a:p>
          <a:p>
            <a:endParaRPr/>
          </a:p>
          <a:p>
            <a:r>
              <a:t>Why the context window still matters despite all that training data:</a:t>
            </a:r>
          </a:p>
          <a:p>
            <a:r>
              <a:t>- Frozen in time: training has a cutoff, so it cannot know your specific proposal, this year's call text, or anything that didn't exist (or wasn't public) when it was trained.</a:t>
            </a:r>
          </a:p>
          <a:p>
            <a:r>
              <a:t>- Never saw your specifics: it was never trained on your unpublished draft or your institution's internal criteria - those aren't in there to retrieve, at any resolution.</a:t>
            </a:r>
          </a:p>
          <a:p>
            <a:r>
              <a:t>- Fuzzy, not verbatim: even for things it was trained on, it's recalling a statistical blend, not a citation - ask it to quote exact numbers from memory and it will often confidently invent something plausible (the "confidently invented" line from slide 3).</a:t>
            </a:r>
          </a:p>
          <a:p>
            <a:r>
              <a:t>- Averaged, not excellent: training gives the generic version of "how a grant proposal usually looks"; context is what pulls it away from that average and grounds it in your specific, excellent case.</a:t>
            </a:r>
          </a:p>
          <a:p>
            <a:endParaRPr/>
          </a:p>
          <a:p>
            <a:r>
              <a:t>One-line answer if asked live: what's not in the window doesn't exist to the model as a fact it can verify or quote - only, at best, as a fuzzy statistical guess from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hasselt.be/nl/aparte-sites-uhasselt/ai-uhasselt/ai-tools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hasselt.be/nl/aparte-sites-uhasselt/ai-uhasselt/ai-tools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ris_title_shape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0" y="-713317"/>
            <a:ext cx="12204700" cy="47371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4480560"/>
            <a:ext cx="91440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1400" b="1" dirty="0">
                <a:solidFill>
                  <a:srgbClr val="2A78D6"/>
                </a:solidFill>
                <a:latin typeface="Segoe UI Semibold"/>
              </a:rPr>
              <a:t>08/Sept/2026: </a:t>
            </a:r>
            <a:r>
              <a:rPr sz="1400" b="1" dirty="0">
                <a:solidFill>
                  <a:srgbClr val="2A78D6"/>
                </a:solidFill>
                <a:latin typeface="Segoe UI Semibold"/>
              </a:rPr>
              <a:t>AI </a:t>
            </a:r>
            <a:r>
              <a:rPr lang="nl-BE" sz="1400" b="1" dirty="0">
                <a:solidFill>
                  <a:srgbClr val="2A78D6"/>
                </a:solidFill>
                <a:latin typeface="Segoe UI Semibold"/>
              </a:rPr>
              <a:t>in research</a:t>
            </a:r>
            <a:endParaRPr sz="14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4882896"/>
            <a:ext cx="103327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600" b="1">
                <a:solidFill>
                  <a:srgbClr val="0B0B0B"/>
                </a:solidFill>
                <a:latin typeface="Segoe UI Semibold"/>
              </a:rPr>
              <a:t>Levels of Using AI in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15584"/>
            <a:ext cx="96012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dirty="0">
                <a:solidFill>
                  <a:srgbClr val="52514E"/>
                </a:solidFill>
                <a:latin typeface="Segoe UI"/>
              </a:rPr>
              <a:t>From a trainee who knows nothing to a trusted colleague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dirty="0">
                <a:solidFill>
                  <a:srgbClr val="898781"/>
                </a:solidFill>
                <a:latin typeface="Segoe UI"/>
              </a:rPr>
              <a:t>S</a:t>
            </a:r>
            <a:r>
              <a:rPr lang="nl-BE" sz="1400" b="0" dirty="0">
                <a:solidFill>
                  <a:srgbClr val="898781"/>
                </a:solidFill>
                <a:latin typeface="Segoe UI"/>
              </a:rPr>
              <a:t>ö</a:t>
            </a:r>
            <a:r>
              <a:rPr sz="1400" b="0" dirty="0">
                <a:solidFill>
                  <a:srgbClr val="898781"/>
                </a:solidFill>
                <a:latin typeface="Segoe UI"/>
              </a:rPr>
              <a:t>ren Kuypers  ·  OBI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-137616" y="4023784"/>
            <a:ext cx="4694800" cy="0"/>
          </a:xfrm>
          <a:prstGeom prst="line">
            <a:avLst/>
          </a:prstGeom>
          <a:ln w="57150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07268" y="4023784"/>
            <a:ext cx="4694800" cy="0"/>
          </a:xfrm>
          <a:prstGeom prst="line">
            <a:avLst/>
          </a:prstGeom>
          <a:ln w="57150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410" y="4023784"/>
            <a:ext cx="3077633" cy="723901"/>
          </a:xfrm>
          <a:prstGeom prst="rect">
            <a:avLst/>
          </a:prstGeom>
        </p:spPr>
      </p:pic>
      <p:pic>
        <p:nvPicPr>
          <p:cNvPr id="11" name="Picture 10" descr="repo_qr.png">
            <a:extLst>
              <a:ext uri="{FF2B5EF4-FFF2-40B4-BE49-F238E27FC236}">
                <a16:creationId xmlns:a16="http://schemas.microsoft.com/office/drawing/2014/main" id="{8EC4A624-B474-9426-ADF9-BBAB6AF298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6279" y="4644180"/>
            <a:ext cx="1542331" cy="15423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204A97D-8C88-C0C2-70C5-A734A16B0343}"/>
              </a:ext>
            </a:extLst>
          </p:cNvPr>
          <p:cNvSpPr txBox="1"/>
          <p:nvPr/>
        </p:nvSpPr>
        <p:spPr>
          <a:xfrm>
            <a:off x="10304592" y="6308467"/>
            <a:ext cx="15540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rgbClr val="595959"/>
                </a:solidFill>
              </a:rPr>
              <a:t>github.com/Aptamer1/ai-research-day-08092026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AF2C96-C343-A0B2-8CDC-61282D8E4AC0}"/>
              </a:ext>
            </a:extLst>
          </p:cNvPr>
          <p:cNvSpPr txBox="1"/>
          <p:nvPr/>
        </p:nvSpPr>
        <p:spPr>
          <a:xfrm>
            <a:off x="9907682" y="4049673"/>
            <a:ext cx="2359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accent1"/>
                </a:solidFill>
              </a:rPr>
              <a:t>Follow </a:t>
            </a:r>
            <a:r>
              <a:rPr lang="nl-BE" sz="1400" dirty="0" err="1">
                <a:solidFill>
                  <a:schemeClr val="accent1"/>
                </a:solidFill>
              </a:rPr>
              <a:t>along</a:t>
            </a:r>
            <a:r>
              <a:rPr lang="nl-BE" sz="1400" dirty="0">
                <a:solidFill>
                  <a:schemeClr val="accent1"/>
                </a:solidFill>
              </a:rPr>
              <a:t> / access resources?: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600" y="182936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IN THE NEXT 12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Think of AI as a trainee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188720" y="4640580"/>
            <a:ext cx="1630679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2819399" y="4206240"/>
            <a:ext cx="1630681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450080" y="3771900"/>
            <a:ext cx="1630679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80759" y="3337560"/>
            <a:ext cx="1630681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711440" y="2903220"/>
            <a:ext cx="1630680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9342120" y="2468880"/>
            <a:ext cx="1630680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96696" y="4882896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36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34009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Cold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61441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no context, mixed results</a:t>
            </a:r>
          </a:p>
        </p:txBody>
      </p:sp>
      <p:sp>
        <p:nvSpPr>
          <p:cNvPr id="14" name="Oval 13"/>
          <p:cNvSpPr/>
          <p:nvPr/>
        </p:nvSpPr>
        <p:spPr>
          <a:xfrm>
            <a:off x="2583179" y="4404360"/>
            <a:ext cx="472439" cy="472439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13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2159" y="494995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Add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2159" y="5224272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hand over files to read</a:t>
            </a:r>
          </a:p>
        </p:txBody>
      </p:sp>
      <p:sp>
        <p:nvSpPr>
          <p:cNvPr id="17" name="Oval 16"/>
          <p:cNvSpPr/>
          <p:nvPr/>
        </p:nvSpPr>
        <p:spPr>
          <a:xfrm>
            <a:off x="4169663" y="3925823"/>
            <a:ext cx="560832" cy="560832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9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2840" y="455980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Master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840" y="4834128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search &amp; retrieve knowledge</a:t>
            </a:r>
          </a:p>
        </p:txBody>
      </p:sp>
      <p:sp>
        <p:nvSpPr>
          <p:cNvPr id="20" name="Oval 19"/>
          <p:cNvSpPr/>
          <p:nvPr/>
        </p:nvSpPr>
        <p:spPr>
          <a:xfrm>
            <a:off x="5756148" y="3447288"/>
            <a:ext cx="649224" cy="649224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68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169664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Skills &amp;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4443984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trusted with real tasks</a:t>
            </a:r>
          </a:p>
        </p:txBody>
      </p:sp>
      <p:sp>
        <p:nvSpPr>
          <p:cNvPr id="23" name="Oval 22"/>
          <p:cNvSpPr/>
          <p:nvPr/>
        </p:nvSpPr>
        <p:spPr>
          <a:xfrm>
            <a:off x="7342632" y="2968752"/>
            <a:ext cx="737616" cy="7376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45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4200" y="377952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Multiple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053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one writes, another reviews</a:t>
            </a:r>
          </a:p>
        </p:txBody>
      </p:sp>
      <p:sp>
        <p:nvSpPr>
          <p:cNvPr id="26" name="Oval 25"/>
          <p:cNvSpPr/>
          <p:nvPr/>
        </p:nvSpPr>
        <p:spPr>
          <a:xfrm>
            <a:off x="8929116" y="2490216"/>
            <a:ext cx="826008" cy="82600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22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64880" y="338937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Loops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4880" y="366369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dirty="0">
                <a:solidFill>
                  <a:srgbClr val="52514E"/>
                </a:solidFill>
                <a:latin typeface="Segoe UI"/>
              </a:rPr>
              <a:t>agents that iterate on their own</a:t>
            </a:r>
          </a:p>
        </p:txBody>
      </p:sp>
      <p:sp>
        <p:nvSpPr>
          <p:cNvPr id="29" name="Oval 28"/>
          <p:cNvSpPr/>
          <p:nvPr/>
        </p:nvSpPr>
        <p:spPr>
          <a:xfrm>
            <a:off x="10515600" y="201168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2999232"/>
            <a:ext cx="1554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nl-BE" sz="1200" b="1" dirty="0">
                <a:solidFill>
                  <a:srgbClr val="0B0B0B"/>
                </a:solidFill>
                <a:latin typeface="Segoe UI Semibold"/>
              </a:rPr>
              <a:t>Full control</a:t>
            </a:r>
            <a:endParaRPr sz="12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195560" y="3273552"/>
            <a:ext cx="1554480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nl-BE" sz="950" b="0" dirty="0" err="1">
                <a:solidFill>
                  <a:srgbClr val="52514E"/>
                </a:solidFill>
                <a:latin typeface="Segoe UI"/>
              </a:rPr>
              <a:t>Local</a:t>
            </a:r>
            <a:r>
              <a:rPr lang="nl-BE" sz="950" b="0" dirty="0">
                <a:solidFill>
                  <a:srgbClr val="52514E"/>
                </a:solidFill>
                <a:latin typeface="Segoe UI"/>
              </a:rPr>
              <a:t> </a:t>
            </a:r>
            <a:r>
              <a:rPr lang="nl-BE" sz="950" b="0" dirty="0" err="1">
                <a:solidFill>
                  <a:srgbClr val="52514E"/>
                </a:solidFill>
                <a:latin typeface="Segoe UI"/>
              </a:rPr>
              <a:t>models</a:t>
            </a:r>
            <a:endParaRPr sz="95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65760" y="4590288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98781"/>
                </a:solidFill>
                <a:latin typeface="Segoe UI"/>
              </a:rPr>
              <a:t>Day 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71907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98781"/>
                </a:solidFill>
                <a:latin typeface="Segoe UI"/>
              </a:rPr>
              <a:t>Trusted colleague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1 · COLD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A trainee with zero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72768" y="2286000"/>
            <a:ext cx="3017520" cy="169164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assignment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prompt)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a task, no background,
no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0288" y="2948939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01768" y="2286000"/>
            <a:ext cx="2560320" cy="169164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LLM)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zero context in the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2088" y="2948939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73568" y="2286000"/>
            <a:ext cx="2560320" cy="169164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part genuinely solid,
part confidently invented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900" b="1">
                <a:solidFill>
                  <a:srgbClr val="0B0B0B"/>
                </a:solidFill>
                <a:latin typeface="Segoe UI"/>
              </a:rPr>
              <a:t>A smarter trainee might help — </a:t>
            </a:r>
            <a:r>
              <a:rPr sz="1900" b="0">
                <a:solidFill>
                  <a:srgbClr val="52514E"/>
                </a:solidFill>
                <a:latin typeface="Segoe UI"/>
              </a:rPr>
              <a:t>but so do other strategies. The next levels explore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1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LLMs predict the average. Research needs excellence.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38375"/>
            <a:ext cx="10424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700" b="1">
                <a:solidFill>
                  <a:srgbClr val="0B0B0B"/>
                </a:solidFill>
                <a:latin typeface="Segoe UI"/>
              </a:rPr>
              <a:t>This gap is the challenge — </a:t>
            </a:r>
            <a:r>
              <a:rPr sz="1700" b="0">
                <a:solidFill>
                  <a:srgbClr val="52514E"/>
                </a:solidFill>
                <a:latin typeface="Segoe UI"/>
              </a:rPr>
              <a:t>models default to average; research needs the right tail.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700" b="1">
                <a:solidFill>
                  <a:srgbClr val="0B0B0B"/>
                </a:solidFill>
                <a:latin typeface="Segoe UI"/>
              </a:rPr>
              <a:t>The next levels are strategies to close it: </a:t>
            </a:r>
            <a:r>
              <a:rPr sz="1700" b="0">
                <a:solidFill>
                  <a:srgbClr val="52514E"/>
                </a:solidFill>
                <a:latin typeface="Segoe UI"/>
              </a:rPr>
              <a:t>context, skills, second opinions, and more — not just a smarter trainee.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11" name="Picture 10" descr="pic10_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6996" y="1371600"/>
            <a:ext cx="5394960" cy="28924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2 · ADD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Give it something to 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49494" y="1572768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(the prompt)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49694" y="1572768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 dirty="0">
                <a:solidFill>
                  <a:srgbClr val="0B0B0B"/>
                </a:solidFill>
                <a:latin typeface="Segoe UI Semibold"/>
              </a:rPr>
              <a:t>+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67014" y="209854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8494" y="1572768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38814" y="209854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50294" y="1572768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050" b="0">
                <a:solidFill>
                  <a:srgbClr val="52514E"/>
                </a:solidFill>
                <a:latin typeface="Segoe UI"/>
              </a:rPr>
              <a:t>fewer blanks filled
in from guesswork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10424160" cy="1159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Claude: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drag a file into the chat — read once, part of this conversation only.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ChatGPT: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attach a file to a message — same idea</a:t>
            </a:r>
            <a:endParaRPr lang="nl-BE" sz="1550" b="0" dirty="0">
              <a:solidFill>
                <a:srgbClr val="52514E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Copilot: </a:t>
            </a:r>
            <a:r>
              <a:rPr lang="nl-BE" sz="1550" dirty="0">
                <a:solidFill>
                  <a:srgbClr val="0B0B0B"/>
                </a:solidFill>
                <a:latin typeface="Segoe UI"/>
              </a:rPr>
              <a:t>Upload </a:t>
            </a:r>
            <a:r>
              <a:rPr lang="nl-BE" sz="1550" dirty="0" err="1">
                <a:solidFill>
                  <a:srgbClr val="0B0B0B"/>
                </a:solidFill>
                <a:latin typeface="Segoe UI"/>
              </a:rPr>
              <a:t>possible</a:t>
            </a:r>
            <a:r>
              <a:rPr lang="nl-BE" sz="1550" dirty="0">
                <a:solidFill>
                  <a:srgbClr val="0B0B0B"/>
                </a:solidFill>
                <a:latin typeface="Segoe UI"/>
              </a:rPr>
              <a:t>, but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type “/” in the chat to pull a file straight from SharePoint or OneDrive — no upload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39390"/>
            <a:ext cx="10424160" cy="1300000"/>
          </a:xfrm>
          <a:prstGeom prst="roundRect">
            <a:avLst>
              <a:gd name="adj" fmla="val 8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300" b="0" dirty="0">
                <a:solidFill>
                  <a:srgbClr val="52514E"/>
                </a:solidFill>
                <a:latin typeface="Segoe UI"/>
              </a:rPr>
              <a:t>Tip: some models read PDFs and images far better than others — ask a model to summarize a PDF or image into text first.</a:t>
            </a:r>
            <a:endParaRPr lang="nl-BE" sz="1300" b="0" dirty="0">
              <a:solidFill>
                <a:srgbClr val="52514E"/>
              </a:solidFill>
              <a:latin typeface="Segoe UI"/>
            </a:endParaRPr>
          </a:p>
          <a:p>
            <a:pPr algn="l"/>
            <a:endParaRPr sz="1300" b="0" dirty="0">
              <a:solidFill>
                <a:srgbClr val="52514E"/>
              </a:solidFill>
              <a:latin typeface="Segoe UI"/>
            </a:endParaRPr>
          </a:p>
          <a:p>
            <a:pPr algn="l"/>
            <a:r>
              <a:rPr sz="1300" b="0" dirty="0">
                <a:solidFill>
                  <a:srgbClr val="52514E"/>
                </a:solidFill>
                <a:latin typeface="Segoe UI"/>
              </a:rPr>
              <a:t>Tip: attach a strong worked example alongside the assignment — showing what “good” looks like lifts quality more than describing it (few-shot beats instructions alone).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2 / 7</a:t>
            </a:r>
          </a:p>
        </p:txBody>
      </p:sp>
      <p:pic>
        <p:nvPicPr>
          <p:cNvPr id="24" name="Picture 23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orde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3 · MASTER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The context window is the key to better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6400800" cy="2148840"/>
          </a:xfrm>
          <a:prstGeom prst="roundRect">
            <a:avLst>
              <a:gd name="adj" fmla="val 6000"/>
            </a:avLst>
          </a:prstGeom>
          <a:solidFill>
            <a:srgbClr val="F0EFEC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103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2A78D6"/>
                </a:solidFill>
                <a:latin typeface="Segoe UI Semibold"/>
              </a:rPr>
              <a:t>CONTEXT WINDOW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79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System prompt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Segoe UI"/>
              </a:rPr>
              <a:t>(you can't change this)</a:t>
            </a:r>
          </a:p>
          <a:p>
            <a:r>
              <a:rPr sz="1000" b="0">
                <a:solidFill>
                  <a:srgbClr val="52514E"/>
                </a:solidFill>
                <a:latin typeface="Segoe UI"/>
              </a:rPr>
              <a:t>standing instructions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(user prompt)</a:t>
            </a:r>
          </a:p>
          <a:p>
            <a:pPr algn="ctr"/>
            <a:r>
              <a:rPr sz="1000" b="0">
                <a:solidFill>
                  <a:srgbClr val="52514E"/>
                </a:solidFill>
                <a:latin typeface="Segoe UI"/>
              </a:rPr>
              <a:t>what you're asking
right now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Files &amp; history</a:t>
            </a:r>
          </a:p>
          <a:p>
            <a:pPr algn="ctr"/>
            <a:r>
              <a:rPr sz="1000" b="0">
                <a:solidFill>
                  <a:srgbClr val="52514E"/>
                </a:solidFill>
                <a:latin typeface="Segoe UI"/>
              </a:rPr>
              <a:t>attached content,
chat so far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575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2631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05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8575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59" y="22631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050" b="0" i="1">
                <a:solidFill>
                  <a:srgbClr val="0B0B0B"/>
                </a:solidFill>
                <a:latin typeface="Segoe UI"/>
              </a:rPr>
              <a:t>(the output)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34840"/>
            <a:ext cx="1042416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700" b="1" dirty="0">
                <a:solidFill>
                  <a:srgbClr val="0B0B0B"/>
                </a:solidFill>
                <a:latin typeface="Segoe UI"/>
              </a:rPr>
              <a:t>What's not inside this window doesn't exist to the model</a:t>
            </a:r>
            <a:endParaRPr sz="170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3 /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780000"/>
            <a:ext cx="1042416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898781"/>
                </a:solidFill>
                <a:latin typeface="Segoe UI"/>
              </a:rPr>
              <a:t>Training still gives it general, averaged knowledge — the window is what makes it specific, current, and checkable.</a:t>
            </a:r>
          </a:p>
        </p:txBody>
      </p:sp>
      <p:pic>
        <p:nvPicPr>
          <p:cNvPr id="27" name="Picture 26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LEVEL 3 · MASTER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Instead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giving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it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something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to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read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, let it search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through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a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knowledge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base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572768" y="1780687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(the prompt)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0488" y="1789831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+ Searches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a knowledge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73908" y="2274463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dirty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9209" y="1776115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2088" y="230646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1780687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050" b="0">
                <a:solidFill>
                  <a:srgbClr val="52514E"/>
                </a:solidFill>
                <a:latin typeface="Segoe UI"/>
              </a:rPr>
              <a:t>grounded in what was
actually 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93592"/>
            <a:ext cx="10424160" cy="2318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One way to do this is RAG — Retrieval-Augmented Generation: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the model searches your documents at question time instead of having them all preloaded.</a:t>
            </a:r>
            <a:endParaRPr lang="nl-BE" sz="1550" b="0" dirty="0">
              <a:solidFill>
                <a:srgbClr val="52514E"/>
              </a:solidFill>
              <a:latin typeface="Segoe UI"/>
            </a:endParaRPr>
          </a:p>
          <a:p>
            <a:pPr>
              <a:spcAft>
                <a:spcPts val="800"/>
              </a:spcAft>
            </a:pPr>
            <a:r>
              <a:rPr lang="nl-BE" sz="1550" b="1" dirty="0">
                <a:solidFill>
                  <a:schemeClr val="tx2"/>
                </a:solidFill>
                <a:latin typeface="Segoe UI"/>
              </a:rPr>
              <a:t>How </a:t>
            </a:r>
            <a:r>
              <a:rPr lang="nl-BE" sz="1550" b="1" dirty="0" err="1">
                <a:solidFill>
                  <a:schemeClr val="tx2"/>
                </a:solidFill>
                <a:latin typeface="Segoe UI"/>
              </a:rPr>
              <a:t>to</a:t>
            </a:r>
            <a:r>
              <a:rPr lang="nl-BE" sz="1550" b="1" dirty="0">
                <a:solidFill>
                  <a:schemeClr val="tx2"/>
                </a:solidFill>
                <a:latin typeface="Segoe UI"/>
              </a:rPr>
              <a:t> </a:t>
            </a:r>
            <a:r>
              <a:rPr lang="nl-BE" sz="1550" b="1" dirty="0" err="1">
                <a:solidFill>
                  <a:schemeClr val="tx2"/>
                </a:solidFill>
                <a:latin typeface="Segoe UI"/>
              </a:rPr>
              <a:t>apply</a:t>
            </a:r>
            <a:r>
              <a:rPr lang="nl-BE" sz="1550" b="1" dirty="0">
                <a:solidFill>
                  <a:schemeClr val="tx2"/>
                </a:solidFill>
                <a:latin typeface="Segoe UI"/>
              </a:rPr>
              <a:t>?</a:t>
            </a:r>
            <a:endParaRPr sz="1550" b="1" dirty="0">
              <a:solidFill>
                <a:schemeClr val="tx2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Claude: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Projects auto-expand past the context window on any plan, including free — RAG kicks in automatically for up to 10x more capacity, no setup needed.</a:t>
            </a:r>
            <a:r>
              <a:rPr lang="nl-BE" sz="1550" b="0" dirty="0">
                <a:solidFill>
                  <a:srgbClr val="52514E"/>
                </a:solidFill>
                <a:latin typeface="Segoe UI"/>
              </a:rPr>
              <a:t> 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ChatGPT: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Custom GPTs chunk, embed, and search up to 20 knowledge files at question time (creating one needs ChatGPT Plus).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Copilot Studio: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can set this up over a linked SharePoint folder, semantically indexing up to 1,000 files automatically.</a:t>
            </a:r>
            <a:r>
              <a:rPr lang="nl-BE" sz="1550" b="0" dirty="0">
                <a:solidFill>
                  <a:srgbClr val="52514E"/>
                </a:solidFill>
                <a:latin typeface="Segoe UI"/>
              </a:rPr>
              <a:t> </a:t>
            </a:r>
            <a:endParaRPr sz="155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3 / 7</a:t>
            </a:r>
          </a:p>
        </p:txBody>
      </p:sp>
      <p:pic>
        <p:nvPicPr>
          <p:cNvPr id="24" name="Picture 23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SKILLS &amp;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A skill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+ tools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turns 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a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llm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into a specialist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(agent)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737360" y="1920240"/>
            <a:ext cx="8686800" cy="2103120"/>
          </a:xfrm>
          <a:prstGeom prst="roundRect">
            <a:avLst>
              <a:gd name="adj" fmla="val 6000"/>
            </a:avLst>
          </a:prstGeom>
          <a:solidFill>
            <a:srgbClr val="F0EFEC"/>
          </a:solidFill>
          <a:ln w="190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011679" y="20574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EB6834"/>
                </a:solidFill>
                <a:latin typeface="Segoe UI Semibold"/>
              </a:rPr>
              <a:t>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LLM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the brain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Tools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what it can 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Skill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a reusable
procedure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10424160" cy="1292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A skill is a reusable procedure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instructions, written once, that it follows automatically when relevant.</a:t>
            </a:r>
            <a:endParaRPr lang="nl-BE" sz="1600" b="0" dirty="0">
              <a:solidFill>
                <a:srgbClr val="52514E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lang="en-US" sz="1600" b="1" dirty="0">
                <a:solidFill>
                  <a:srgbClr val="0B0B0B"/>
                </a:solidFill>
                <a:latin typeface="Segoe UI"/>
              </a:rPr>
              <a:t>It doesn't replace the agent; it specializes it — </a:t>
            </a:r>
            <a:r>
              <a:rPr lang="en-US" sz="1600" b="0" dirty="0">
                <a:solidFill>
                  <a:srgbClr val="52514E"/>
                </a:solidFill>
                <a:latin typeface="Segoe UI"/>
              </a:rPr>
              <a:t>“turns a general-purpose agent into a specialist.”</a:t>
            </a:r>
          </a:p>
          <a:p>
            <a:pPr>
              <a:spcBef>
                <a:spcPts val="800"/>
              </a:spcBef>
            </a:pPr>
            <a:r>
              <a:rPr lang="nl-BE" sz="1600" b="1" dirty="0">
                <a:solidFill>
                  <a:srgbClr val="0B0B0B"/>
                </a:solidFill>
                <a:latin typeface="Segoe UI"/>
              </a:rPr>
              <a:t>Open standard</a:t>
            </a:r>
            <a:r>
              <a:rPr sz="1600" b="1" dirty="0">
                <a:solidFill>
                  <a:srgbClr val="0B0B0B"/>
                </a:solidFill>
                <a:latin typeface="Segoe UI"/>
              </a:rPr>
              <a:t>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since Dec 2025, SKILL.md is an open standard — the same skill file now works across Claude, ChatGPT, Codex CLI, Gemini, and Copilot.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Give it a memory: the “LLM wiki”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42416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dirty="0">
                <a:solidFill>
                  <a:srgbClr val="898781"/>
                </a:solidFill>
                <a:latin typeface="Segoe UI"/>
              </a:rPr>
              <a:t>A different way to retrieve knowledge: instead of re-searching raw documents on every question, the LLM compiles a persistent, growing wiki and keeps it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2A78D6"/>
                </a:solidFill>
                <a:latin typeface="Segoe UI Semibold"/>
              </a:rPr>
              <a:t>THE </a:t>
            </a:r>
            <a:r>
              <a:rPr lang="nl-BE" sz="1200" b="1" dirty="0">
                <a:solidFill>
                  <a:srgbClr val="2A78D6"/>
                </a:solidFill>
                <a:latin typeface="Segoe UI Semibold"/>
              </a:rPr>
              <a:t>SKILL</a:t>
            </a:r>
            <a:endParaRPr sz="12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5029200" cy="3657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You maintain a persistent markdown wiki instead of answering straight from raw files — sources are read once, then compiled into pages that keep growing.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Structure: raw/ (untouched sources) → wiki/ (the pages you maintain) → a schema file (e.g. CLAUDE.md) that tells you how to file, cross-reference, and answer.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Ingest: when I add a new source, read it, then update the relevant wiki pages — entity pages, topic summaries, an index — and flag anything that contradicts what's already there.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Query: when I ask a question, check the index first, then the pages it points to, and answer with what the wiki already knows — don't start from scratch.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Lint: periodically health-check the wiki for orphan pages, stale claims, and missing cross-references.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0291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IN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AC67BDB-77F7-9844-F77C-561263480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232" y="2340863"/>
            <a:ext cx="4771736" cy="3538729"/>
          </a:xfrm>
          <a:prstGeom prst="rect">
            <a:avLst/>
          </a:prstGeom>
        </p:spPr>
      </p:pic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Grill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-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me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-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for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-research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898781"/>
                </a:solidFill>
                <a:latin typeface="Segoe UI"/>
              </a:rPr>
              <a:t>Adapted from Matt Pocock's </a:t>
            </a:r>
            <a:r>
              <a:rPr sz="1300" b="0">
                <a:solidFill>
                  <a:srgbClr val="52514E"/>
                </a:solidFill>
                <a:latin typeface="Consolas"/>
              </a:rPr>
              <a:t>/grill-me</a:t>
            </a:r>
            <a:r>
              <a:rPr sz="1300" b="0">
                <a:solidFill>
                  <a:srgbClr val="898781"/>
                </a:solidFill>
                <a:latin typeface="Segoe UI"/>
              </a:rPr>
              <a:t> coding skill (74k+ GitHub stars) — same idea, aimed at a proposal instead of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2A78D6"/>
                </a:solidFill>
                <a:latin typeface="Segoe UI Semibold"/>
              </a:rPr>
              <a:t>THE </a:t>
            </a:r>
            <a:r>
              <a:rPr lang="nl-BE" sz="1200" b="1" dirty="0">
                <a:solidFill>
                  <a:srgbClr val="2A78D6"/>
                </a:solidFill>
                <a:latin typeface="Segoe UI Semibold"/>
              </a:rPr>
              <a:t>SKILL</a:t>
            </a:r>
            <a:endParaRPr sz="12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5029200" cy="3657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You are a skeptical senior PI reviewing a colleague's research proposal — not helping write it, interrogating it.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Ask one hard question at a time about the proposal pasted below</a:t>
            </a:r>
            <a:r>
              <a:rPr lang="nl-BE" sz="1050" b="0" dirty="0">
                <a:solidFill>
                  <a:srgbClr val="0B0B0B"/>
                </a:solidFill>
                <a:latin typeface="Consolas"/>
              </a:rPr>
              <a:t>/</a:t>
            </a:r>
            <a:r>
              <a:rPr lang="nl-BE" sz="1050" b="0" dirty="0" err="1">
                <a:solidFill>
                  <a:srgbClr val="0B0B0B"/>
                </a:solidFill>
                <a:latin typeface="Consolas"/>
              </a:rPr>
              <a:t>attached</a:t>
            </a:r>
            <a:r>
              <a:rPr sz="1050" b="0" dirty="0">
                <a:solidFill>
                  <a:srgbClr val="0B0B0B"/>
                </a:solidFill>
                <a:latin typeface="Consolas"/>
              </a:rPr>
              <a:t>. Focus on the core claim, why it's novel, what could make it fail, and whether the method actually tests the hypothesis.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Don't move on until I've given a real answer — push back if it's vague.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Stop after 8-10 questions, then summarize the 3 weakest points still unresolved.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0291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IN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A253642-2C18-0353-D670-34EDF4795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282" y="2340863"/>
            <a:ext cx="4642919" cy="3637027"/>
          </a:xfrm>
          <a:prstGeom prst="rect">
            <a:avLst/>
          </a:prstGeom>
        </p:spPr>
      </p:pic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Teach it to stress-test a proposal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1202436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Specific assignment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Segoe UI"/>
              </a:rPr>
              <a:t>the prompt, not a generic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1545336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55720" y="1202436"/>
            <a:ext cx="2319528" cy="105156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17179" y="1545336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8659" y="1202436"/>
            <a:ext cx="2766061" cy="105156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a structured critique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0" dirty="0">
                <a:solidFill>
                  <a:srgbClr val="898781"/>
                </a:solidFill>
                <a:latin typeface="Segoe UI"/>
              </a:rPr>
              <a:t>Real prompts from Mads Lykke Berggreen — research adviser, VIA University College (Denmark), active in EARMA (European Association of Research Managers and Administrators)'s AI community: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5029200" cy="2514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Act as a strict Horizon Europe grant evaluator. Read the following draft section of my proposal.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Identify logical gaps, weak impact pathways, and unconvincing methodology claims.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Give me 3 concrete ways to make this argument sharper and more authentic.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9067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THE CRITICAL REVIEWER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383280"/>
            <a:ext cx="5029200" cy="2514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Review this project concept text.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Highlight any invisible blind spots, lack of inclusivity, or underrepresented stakeholder perspectives that a human panel might penalize.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09067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THE BIAS &amp; OMISSION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0">
                <a:solidFill>
                  <a:srgbClr val="898781"/>
                </a:solidFill>
                <a:latin typeface="Segoe UI"/>
              </a:rPr>
              <a:t>Same pattern works with your own checklist — e.g. OBI's admissibility criteria.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sp>
        <p:nvSpPr>
          <p:cNvPr id="26" name="Rounded Rectangle 5"/>
          <p:cNvSpPr/>
          <p:nvPr/>
        </p:nvSpPr>
        <p:spPr>
          <a:xfrm>
            <a:off x="6416040" y="1202436"/>
            <a:ext cx="1417319" cy="105156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dirty="0">
                <a:solidFill>
                  <a:srgbClr val="0B0B0B"/>
                </a:solidFill>
                <a:latin typeface="Segoe UI Semibold"/>
              </a:rPr>
              <a:t>+ Search</a:t>
            </a:r>
          </a:p>
          <a:p>
            <a:pPr algn="ctr"/>
            <a:r>
              <a:rPr lang="nl-BE" sz="950" b="0" dirty="0">
                <a:solidFill>
                  <a:srgbClr val="0B0B0B"/>
                </a:solidFill>
                <a:latin typeface="Segoe UI"/>
              </a:rPr>
              <a:t>Knowledge base </a:t>
            </a:r>
            <a:r>
              <a:rPr lang="nl-BE" sz="950" b="0" dirty="0" err="1">
                <a:solidFill>
                  <a:srgbClr val="0B0B0B"/>
                </a:solidFill>
                <a:latin typeface="Segoe UI"/>
              </a:rPr>
              <a:t>containing</a:t>
            </a:r>
            <a:r>
              <a:rPr lang="nl-BE" sz="950" b="0" dirty="0">
                <a:solidFill>
                  <a:srgbClr val="0B0B0B"/>
                </a:solidFill>
                <a:latin typeface="Segoe UI"/>
              </a:rPr>
              <a:t> criteria</a:t>
            </a:r>
            <a:endParaRPr sz="950" b="0" dirty="0">
              <a:solidFill>
                <a:srgbClr val="0B0B0B"/>
              </a:solidFill>
              <a:latin typeface="Segoe UI"/>
            </a:endParaRPr>
          </a:p>
        </p:txBody>
      </p:sp>
      <p:pic>
        <p:nvPicPr>
          <p:cNvPr id="28" name="Picture 27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From FWO's rulebook to a pressure-tested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9" name="Picture 28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sp>
        <p:nvSpPr>
          <p:cNvPr id="30" name="Pipeline Box 1"/>
          <p:cNvSpPr/>
          <p:nvPr/>
        </p:nvSpPr>
        <p:spPr>
          <a:xfrm>
            <a:off x="731520" y="1900000"/>
            <a:ext cx="2320000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i="0">
                <a:solidFill>
                  <a:srgbClr val="0B0B0B"/>
                </a:solidFill>
                <a:latin typeface="Segoe UI Semibold"/>
              </a:rPr>
              <a:t>Knowledge base</a:t>
            </a:r>
          </a:p>
          <a:p>
            <a:pPr algn="ctr"/>
            <a:r>
              <a:rPr sz="950" b="0" i="0">
                <a:solidFill>
                  <a:srgbClr val="52514E"/>
                </a:solidFill>
                <a:latin typeface="Segoe UI"/>
              </a:rPr>
              <a:t>raw FWO sources: regulations, scoring grid, panels, templates</a:t>
            </a:r>
          </a:p>
        </p:txBody>
      </p:sp>
      <p:sp>
        <p:nvSpPr>
          <p:cNvPr id="31" name="Pipeline Arrow 1"/>
          <p:cNvSpPr txBox="1"/>
          <p:nvPr/>
        </p:nvSpPr>
        <p:spPr>
          <a:xfrm>
            <a:off x="3051520" y="2425780"/>
            <a:ext cx="350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32" name="Pipeline Box 2"/>
          <p:cNvSpPr/>
          <p:nvPr/>
        </p:nvSpPr>
        <p:spPr>
          <a:xfrm>
            <a:off x="3401520" y="1900000"/>
            <a:ext cx="232000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i="0">
                <a:solidFill>
                  <a:srgbClr val="0B0B0B"/>
                </a:solidFill>
                <a:latin typeface="Segoe UI Semibold"/>
              </a:rPr>
              <a:t>Extract</a:t>
            </a:r>
          </a:p>
          <a:p>
            <a:pPr algn="ctr"/>
            <a:r>
              <a:rPr sz="950" b="0" i="0">
                <a:solidFill>
                  <a:srgbClr val="52514E"/>
                </a:solidFill>
                <a:latin typeface="Segoe UI"/>
              </a:rPr>
              <a:t>llm-wiki compiles it into wiki/ pages: criteria, process, guides</a:t>
            </a:r>
          </a:p>
        </p:txBody>
      </p:sp>
      <p:sp>
        <p:nvSpPr>
          <p:cNvPr id="33" name="Pipeline Arrow 2"/>
          <p:cNvSpPr txBox="1"/>
          <p:nvPr/>
        </p:nvSpPr>
        <p:spPr>
          <a:xfrm>
            <a:off x="5721520" y="2425780"/>
            <a:ext cx="350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34" name="Pipeline Box 3"/>
          <p:cNvSpPr/>
          <p:nvPr/>
        </p:nvSpPr>
        <p:spPr>
          <a:xfrm>
            <a:off x="6071520" y="1900000"/>
            <a:ext cx="232000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i="0">
                <a:solidFill>
                  <a:srgbClr val="0B0B0B"/>
                </a:solidFill>
                <a:latin typeface="Segoe UI Semibold"/>
              </a:rPr>
              <a:t>Skill</a:t>
            </a:r>
          </a:p>
          <a:p>
            <a:pPr algn="ctr"/>
            <a:r>
              <a:rPr sz="950" b="0" i="0">
                <a:solidFill>
                  <a:srgbClr val="52514E"/>
                </a:solidFill>
                <a:latin typeface="Segoe UI"/>
              </a:rPr>
              <a:t>packaged as SKILL.md, runs on demand</a:t>
            </a:r>
          </a:p>
        </p:txBody>
      </p:sp>
      <p:sp>
        <p:nvSpPr>
          <p:cNvPr id="35" name="Pipeline Arrow 3"/>
          <p:cNvSpPr txBox="1"/>
          <p:nvPr/>
        </p:nvSpPr>
        <p:spPr>
          <a:xfrm>
            <a:off x="8391520" y="2425780"/>
            <a:ext cx="350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36" name="Pipeline Box 4"/>
          <p:cNvSpPr/>
          <p:nvPr/>
        </p:nvSpPr>
        <p:spPr>
          <a:xfrm>
            <a:off x="8741520" y="1900000"/>
            <a:ext cx="232000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i="0">
                <a:solidFill>
                  <a:srgbClr val="0B0B0B"/>
                </a:solidFill>
                <a:latin typeface="Segoe UI Semibold"/>
              </a:rPr>
              <a:t>Better proposal</a:t>
            </a:r>
          </a:p>
          <a:p>
            <a:pPr algn="ctr"/>
            <a:r>
              <a:rPr sz="950" b="0" i="0">
                <a:solidFill>
                  <a:srgbClr val="52514E"/>
                </a:solidFill>
                <a:latin typeface="Segoe UI"/>
              </a:rPr>
              <a:t>checked and scored before it reaches a panel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1350000"/>
            <a:ext cx="104241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898781"/>
                </a:solidFill>
                <a:latin typeface="Segoe UI"/>
              </a:rPr>
              <a:t>Every level from this talk, chained on one funder: raw files become a searchable knowledge base, </a:t>
            </a:r>
            <a:r>
              <a:rPr lang="nl-BE" sz="1300" b="0" dirty="0" err="1">
                <a:solidFill>
                  <a:srgbClr val="898781"/>
                </a:solidFill>
                <a:latin typeface="Segoe UI"/>
              </a:rPr>
              <a:t>then</a:t>
            </a:r>
            <a:r>
              <a:rPr lang="nl-BE" sz="1300" b="0" dirty="0">
                <a:solidFill>
                  <a:srgbClr val="898781"/>
                </a:solidFill>
                <a:latin typeface="Segoe UI"/>
              </a:rPr>
              <a:t> a</a:t>
            </a:r>
            <a:r>
              <a:rPr lang="en-US" sz="1300" b="0" dirty="0">
                <a:solidFill>
                  <a:srgbClr val="898781"/>
                </a:solidFill>
                <a:latin typeface="Segoe UI"/>
              </a:rPr>
              <a:t> skill</a:t>
            </a:r>
            <a:endParaRPr sz="1300" b="0" dirty="0">
              <a:solidFill>
                <a:srgbClr val="898781"/>
              </a:solidFill>
              <a:latin typeface="Segoe U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31520" y="3540000"/>
            <a:ext cx="10424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THE TWO SKILLS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3880000"/>
            <a:ext cx="1042416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0B0B0B"/>
                </a:solidFill>
                <a:latin typeface="Consolas"/>
              </a:rPr>
              <a:t>/</a:t>
            </a:r>
            <a:r>
              <a:rPr sz="1300" b="1" dirty="0" err="1">
                <a:solidFill>
                  <a:srgbClr val="0B0B0B"/>
                </a:solidFill>
                <a:latin typeface="Consolas"/>
              </a:rPr>
              <a:t>fwo</a:t>
            </a:r>
            <a:r>
              <a:rPr sz="1300" b="1" dirty="0">
                <a:solidFill>
                  <a:srgbClr val="0B0B0B"/>
                </a:solidFill>
                <a:latin typeface="Consolas"/>
              </a:rPr>
              <a:t>-admissibility-check</a:t>
            </a:r>
            <a:r>
              <a:rPr sz="1300" b="0" dirty="0">
                <a:solidFill>
                  <a:srgbClr val="52514E"/>
                </a:solidFill>
                <a:latin typeface="Segoe UI"/>
              </a:rPr>
              <a:t>  the eligibility gate — supervisor role, Junior/Senior, submission limits, budget caps, form completeness — pass/fail before it ever reaches a panel.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550000"/>
            <a:ext cx="1042416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onsolas"/>
              </a:rPr>
              <a:t>/fwo-reviewer [INTDIS]</a:t>
            </a:r>
            <a:r>
              <a:rPr sz="1300" b="0">
                <a:solidFill>
                  <a:srgbClr val="52514E"/>
                </a:solidFill>
                <a:latin typeface="Segoe UI"/>
              </a:rPr>
              <a:t>  simulates the panel — scores Team, Originality, Feasibility (and Interdisciplinarity) against FWO's real scoring grid, then lists concrete fixes.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739208"/>
            <a:ext cx="10424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0" dirty="0">
                <a:solidFill>
                  <a:srgbClr val="898781"/>
                </a:solidFill>
                <a:latin typeface="Segoe UI"/>
              </a:rPr>
              <a:t>Same recipe for any funder — swap the raw sources, and the skill rebuilds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854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All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research skills in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the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repo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07492"/>
            <a:ext cx="7854604" cy="4281126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/grant-evaluator [funder]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 Strict funder-style critique of a proposal section (default Horizon Europe).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/bias-omission-check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 Flags blind spots, inclusivity gaps, underrepresented stakeholders.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/grill-me-for-research [n]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 Skeptical senior PI interrogates the proposal one question at a time.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/deconstruct-call [topic]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 Turns a funding call text into a compliance &amp; KPI checklist.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 dirty="0">
                <a:solidFill>
                  <a:srgbClr val="0B0B0B"/>
                </a:solidFill>
                <a:latin typeface="Consolas"/>
              </a:rPr>
              <a:t>/plain-language-polish</a:t>
            </a:r>
            <a:r>
              <a:rPr sz="1100" b="0" dirty="0">
                <a:solidFill>
                  <a:srgbClr val="0B0B0B"/>
                </a:solidFill>
                <a:latin typeface="Consolas"/>
              </a:rPr>
              <a:t>  Rewrites jargon for a diverse evaluation board.</a:t>
            </a:r>
            <a:endParaRPr lang="nl-BE" sz="1100" b="0" dirty="0">
              <a:solidFill>
                <a:srgbClr val="0B0B0B"/>
              </a:solidFill>
              <a:latin typeface="Consolas"/>
            </a:endParaRP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lang="nl-BE" sz="1100" b="1" dirty="0">
                <a:solidFill>
                  <a:srgbClr val="0B0B0B"/>
                </a:solidFill>
                <a:latin typeface="Consolas"/>
              </a:rPr>
              <a:t>/</a:t>
            </a:r>
            <a:r>
              <a:rPr lang="nl-BE" sz="1100" b="1" dirty="0" err="1">
                <a:solidFill>
                  <a:srgbClr val="0B0B0B"/>
                </a:solidFill>
                <a:latin typeface="Consolas"/>
              </a:rPr>
              <a:t>consistency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-check [style]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 Checks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formatting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and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citation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-style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consistency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lang="nl-BE" sz="1100" b="1" dirty="0">
                <a:solidFill>
                  <a:srgbClr val="0B0B0B"/>
                </a:solidFill>
                <a:latin typeface="Consolas"/>
              </a:rPr>
              <a:t>/</a:t>
            </a:r>
            <a:r>
              <a:rPr lang="nl-BE" sz="1100" b="1" dirty="0" err="1">
                <a:solidFill>
                  <a:srgbClr val="0B0B0B"/>
                </a:solidFill>
                <a:latin typeface="Consolas"/>
              </a:rPr>
              <a:t>llm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-wiki [</a:t>
            </a:r>
            <a:r>
              <a:rPr lang="nl-BE" sz="1100" b="1" dirty="0" err="1">
                <a:solidFill>
                  <a:srgbClr val="0B0B0B"/>
                </a:solidFill>
                <a:latin typeface="Consolas"/>
              </a:rPr>
              <a:t>ingest|query|lint</a:t>
            </a:r>
            <a:r>
              <a:rPr lang="nl-BE" sz="1100" b="1" dirty="0">
                <a:solidFill>
                  <a:srgbClr val="0B0B0B"/>
                </a:solidFill>
                <a:latin typeface="Consolas"/>
              </a:rPr>
              <a:t>]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 Persistent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markdown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knowledge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wiki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instead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of re-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searching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</a:t>
            </a:r>
            <a:r>
              <a:rPr lang="nl-BE" sz="1100" dirty="0" err="1">
                <a:solidFill>
                  <a:srgbClr val="0B0B0B"/>
                </a:solidFill>
                <a:latin typeface="Consolas"/>
              </a:rPr>
              <a:t>raw</a:t>
            </a:r>
            <a:r>
              <a:rPr lang="nl-BE" sz="1100" dirty="0">
                <a:solidFill>
                  <a:srgbClr val="0B0B0B"/>
                </a:solidFill>
                <a:latin typeface="Consolas"/>
              </a:rPr>
              <a:t> sources.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endParaRPr lang="nl-BE" sz="1100" b="0" dirty="0">
              <a:solidFill>
                <a:srgbClr val="0B0B0B"/>
              </a:solidFill>
              <a:latin typeface="Consolas"/>
            </a:endParaRP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lang="nl-BE" sz="1100" dirty="0">
                <a:solidFill>
                  <a:srgbClr val="0B0B0B"/>
                </a:solidFill>
                <a:latin typeface="Consolas"/>
              </a:rPr>
              <a:t>Extra — more prompts worth testing:</a:t>
            </a:r>
            <a:endParaRPr lang="nl-BE" sz="1100" b="0" dirty="0">
              <a:solidFill>
                <a:srgbClr val="0B0B0B"/>
              </a:solidFill>
              <a:latin typeface="Consolas"/>
            </a:endParaRP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Deconstruct the call</a:t>
            </a:r>
            <a:r>
              <a:rPr sz="1100" b="0">
                <a:solidFill>
                  <a:srgbClr val="0B0B0B"/>
                </a:solidFill>
                <a:latin typeface="Consolas"/>
              </a:rPr>
              <a:t>  Turns a funding call text into a compliance &amp; KPI checklist.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Plain-language polish</a:t>
            </a:r>
            <a:r>
              <a:rPr sz="1100" b="0">
                <a:solidFill>
                  <a:srgbClr val="0B0B0B"/>
                </a:solidFill>
                <a:latin typeface="Consolas"/>
              </a:rPr>
              <a:t>  Rewrites jargon for a diverse evaluation board.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Workflow audit</a:t>
            </a:r>
            <a:r>
              <a:rPr sz="1100" b="0">
                <a:solidFill>
                  <a:srgbClr val="0B0B0B"/>
                </a:solidFill>
                <a:latin typeface="Consolas"/>
              </a:rPr>
              <a:t>  Shows where automation frees up staff time for higher-value work.</a:t>
            </a:r>
            <a:endParaRPr lang="nl-BE" sz="1100" dirty="0">
              <a:solidFill>
                <a:srgbClr val="0B0B0B"/>
              </a:solidFill>
              <a:latin typeface="Consolas"/>
            </a:endParaRP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100" b="1">
                <a:solidFill>
                  <a:srgbClr val="0B0B0B"/>
                </a:solidFill>
                <a:latin typeface="Consolas"/>
              </a:rPr>
              <a:t>Consistency check</a:t>
            </a:r>
            <a:r>
              <a:rPr sz="1100" b="0">
                <a:solidFill>
                  <a:srgbClr val="0B0B0B"/>
                </a:solidFill>
                <a:latin typeface="Consolas"/>
              </a:rPr>
              <a:t>  Catches formatting and citation-style mismatches.</a:t>
            </a:r>
            <a:endParaRPr sz="1100" b="0" dirty="0">
              <a:solidFill>
                <a:srgbClr val="0B0B0B"/>
              </a:solidFill>
              <a:latin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4214" y="182880"/>
            <a:ext cx="2622379" cy="2622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8472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5 · MULTIPLE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One model writes, another reviews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Model A</a:t>
            </a:r>
          </a:p>
          <a:p>
            <a:pPr algn="ctr"/>
            <a:r>
              <a:rPr sz="1200" b="0" i="1">
                <a:solidFill>
                  <a:srgbClr val="0B0B0B"/>
                </a:solidFill>
                <a:latin typeface="Segoe UI"/>
              </a:rPr>
              <a:t>drafts the proposal
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3154679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Model B</a:t>
            </a:r>
          </a:p>
          <a:p>
            <a:pPr algn="ctr"/>
            <a:r>
              <a:rPr sz="1200" b="0" i="1">
                <a:solidFill>
                  <a:srgbClr val="0B0B0B"/>
                </a:solidFill>
                <a:latin typeface="Segoe UI"/>
              </a:rPr>
              <a:t>critiques it,
independently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3154679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 Semibold"/>
              </a:rPr>
              <a:t>Revised draft</a:t>
            </a:r>
          </a:p>
          <a:p>
            <a:pPr algn="ctr"/>
            <a:r>
              <a:rPr sz="1200" b="0" i="1">
                <a:solidFill>
                  <a:srgbClr val="FFFFFF"/>
                </a:solidFill>
                <a:latin typeface="Segoe UI"/>
              </a:rPr>
              <a:t>stronger for having
survived a second opinion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800" b="1">
                <a:solidFill>
                  <a:srgbClr val="0B0B0B"/>
                </a:solidFill>
                <a:latin typeface="Segoe UI"/>
              </a:rPr>
              <a:t>Different vendors, different blind spots — </a:t>
            </a:r>
            <a:r>
              <a:rPr sz="1800" b="0">
                <a:solidFill>
                  <a:srgbClr val="52514E"/>
                </a:solidFill>
                <a:latin typeface="Segoe UI"/>
              </a:rPr>
              <a:t>a second opinion catches what the first model's own bias would miss.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5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6 ·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A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gent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(s)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looping, or several working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91558"/>
            <a:ext cx="47548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dirty="0">
                <a:solidFill>
                  <a:srgbClr val="0B0B0B"/>
                </a:solidFill>
                <a:latin typeface="Segoe UI Semibold"/>
              </a:rPr>
              <a:t>One</a:t>
            </a:r>
            <a:r>
              <a:rPr lang="nl-BE" sz="1600" b="1" dirty="0">
                <a:solidFill>
                  <a:srgbClr val="0B0B0B"/>
                </a:solidFill>
                <a:latin typeface="Segoe UI Semibold"/>
              </a:rPr>
              <a:t>/multiple</a:t>
            </a:r>
            <a:r>
              <a:rPr sz="1600" b="1" dirty="0">
                <a:solidFill>
                  <a:srgbClr val="0B0B0B"/>
                </a:solidFill>
                <a:latin typeface="Segoe UI Semibold"/>
              </a:rPr>
              <a:t> agent, self-loop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2541366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400" b="1">
                <a:solidFill>
                  <a:srgbClr val="0B0B0B"/>
                </a:solidFill>
                <a:latin typeface="Segoe UI Semibold"/>
              </a:rPr>
              <a:t>Draft → Review → Revise</a:t>
            </a:r>
          </a:p>
        </p:txBody>
      </p:sp>
      <p:sp>
        <p:nvSpPr>
          <p:cNvPr id="6" name="Circular Arrow 5"/>
          <p:cNvSpPr/>
          <p:nvPr/>
        </p:nvSpPr>
        <p:spPr>
          <a:xfrm rot="5400000">
            <a:off x="3954780" y="2052163"/>
            <a:ext cx="868680" cy="86868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5151147"/>
              <a:gd name="adj5" fmla="val 12500"/>
            </a:avLst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91296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0">
                <a:solidFill>
                  <a:srgbClr val="898781"/>
                </a:solidFill>
                <a:latin typeface="Segoe UI"/>
              </a:rPr>
              <a:t>repeats until the exit condition is met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92225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Multiple agents, specialised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2295145"/>
            <a:ext cx="1828800" cy="68580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Orchestrator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7269479" y="2980945"/>
            <a:ext cx="1600201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583679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Writer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69680" y="2980945"/>
            <a:ext cx="0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83879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Reviewer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69680" y="2980945"/>
            <a:ext cx="1600200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84080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Fact-checker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0000"/>
            <a:ext cx="10424160" cy="15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Multiple, not just one: </a:t>
            </a:r>
            <a:r>
              <a:rPr sz="1500" b="0">
                <a:solidFill>
                  <a:srgbClr val="52514E"/>
                </a:solidFill>
                <a:latin typeface="Segoe UI"/>
              </a:rPr>
              <a:t>brief several reviewer agents with different expertise (methodology, ethics, funder priorities) and let them debate the same draft in the loop.</a:t>
            </a:r>
          </a:p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Fully unattended: </a:t>
            </a:r>
            <a:r>
              <a:rPr sz="1500" b="0">
                <a:solidFill>
                  <a:srgbClr val="52514E"/>
                </a:solidFill>
                <a:latin typeface="Segoe UI"/>
              </a:rPr>
              <a:t>a scheduled job (e.g. a cron job) can run the whole loop with no human until it's done.</a:t>
            </a:r>
          </a:p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Either way, a human sets the exit condition — </a:t>
            </a:r>
            <a:r>
              <a:rPr sz="1500" b="0">
                <a:solidFill>
                  <a:srgbClr val="52514E"/>
                </a:solidFill>
                <a:latin typeface="Segoe UI"/>
              </a:rPr>
              <a:t>automation compounds small errors just as fast as small improvements.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6 / 7</a:t>
            </a:r>
          </a:p>
        </p:txBody>
      </p:sp>
      <p:pic>
        <p:nvPicPr>
          <p:cNvPr id="29" name="Picture 28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7 · FULL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Some models you can run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4937760" cy="20116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Cloud (frontier models)</a:t>
            </a:r>
          </a:p>
          <a:p>
            <a:pPr algn="ctr"/>
            <a:r>
              <a:rPr sz="1250" b="0">
                <a:solidFill>
                  <a:srgbClr val="52514E"/>
                </a:solidFill>
                <a:latin typeface="Segoe UI"/>
              </a:rPr>
              <a:t>Best all-round quality, zero setup.
Your data leaves your machine.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377440"/>
            <a:ext cx="4937760" cy="20116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Local (open-source models)</a:t>
            </a:r>
          </a:p>
          <a:p>
            <a:pPr algn="ctr"/>
            <a:r>
              <a:rPr sz="1200" b="0">
                <a:solidFill>
                  <a:srgbClr val="52514E"/>
                </a:solidFill>
                <a:latin typeface="Segoe UI"/>
              </a:rPr>
              <a:t>Runs on a capable personal workstation —
data never leaves it. Improving fast, and
some specialised models now rival the
frontier on focused tasks.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315468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898781"/>
                </a:solidFill>
                <a:latin typeface="Segoe UI Semibold"/>
              </a:rPr>
              <a:t>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7 / 7</a:t>
            </a:r>
          </a:p>
        </p:txBody>
      </p:sp>
      <p:pic>
        <p:nvPicPr>
          <p:cNvPr id="20" name="Picture 1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WRAPPING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00000"/>
            <a:ext cx="10424160" cy="3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Every level narrows the same gap: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average to excellent — sometimes with context, sometimes with a skill, a second model, or a loop.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Most people quit at Level 1's disappointing first impression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Levels 2 and 3 alone already change the experience.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Levels 4 to 6 are where research teams start actually delegating: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skills, second opinions, review loops.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Level 7 is optional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interesting, but not where most of the value is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7 / 7</a:t>
            </a:r>
          </a:p>
        </p:txBody>
      </p:sp>
      <p:sp>
        <p:nvSpPr>
          <p:cNvPr id="16" name="Rounded Rectangle 10"/>
          <p:cNvSpPr/>
          <p:nvPr/>
        </p:nvSpPr>
        <p:spPr>
          <a:xfrm>
            <a:off x="731520" y="4572000"/>
            <a:ext cx="10424160" cy="1234440"/>
          </a:xfrm>
          <a:prstGeom prst="roundRect">
            <a:avLst>
              <a:gd name="adj" fmla="val 8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500" b="1">
                <a:solidFill>
                  <a:srgbClr val="0B0B0B"/>
                </a:solidFill>
                <a:latin typeface="Segoe UI"/>
              </a:rPr>
              <a:t>It's a tool, not a replacement: </a:t>
            </a:r>
            <a:r>
              <a:rPr sz="1500" b="0">
                <a:solidFill>
                  <a:srgbClr val="52514E"/>
                </a:solidFill>
                <a:latin typeface="Segoe UI"/>
              </a:rPr>
              <a:t>it sharpens the work and buys back your time — the insight, and the credit, stay with the researcher. </a:t>
            </a:r>
            <a:r>
              <a:rPr sz="1500" b="1">
                <a:solidFill>
                  <a:srgbClr val="0B0B0B"/>
                </a:solidFill>
                <a:latin typeface="Segoe UI"/>
              </a:rPr>
              <a:t>Stay critical: </a:t>
            </a:r>
            <a:r>
              <a:rPr sz="1500" b="0">
                <a:solidFill>
                  <a:srgbClr val="52514E"/>
                </a:solidFill>
                <a:latin typeface="Segoe UI"/>
              </a:rPr>
              <a:t>when in doubt, ask it to explain itself and back its claims with sources.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987741"/>
            <a:ext cx="104241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0B0B0B"/>
                </a:solidFill>
                <a:latin typeface="Segoe UI"/>
              </a:rPr>
              <a:t>Handling sensitive proposal data? </a:t>
            </a:r>
            <a:r>
              <a:rPr sz="1200" b="0" dirty="0">
                <a:solidFill>
                  <a:srgbClr val="52514E"/>
                </a:solidFill>
                <a:latin typeface="Segoe UI"/>
              </a:rPr>
              <a:t>Check </a:t>
            </a:r>
            <a:r>
              <a:rPr sz="1200" b="0" u="sng" dirty="0" err="1">
                <a:solidFill>
                  <a:srgbClr val="2A78D6"/>
                </a:solidFill>
                <a:latin typeface="Segoe UI"/>
                <a:hlinkClick r:id="rId3"/>
              </a:rPr>
              <a:t>UHasselt's</a:t>
            </a:r>
            <a:r>
              <a:rPr sz="1200" b="0" u="sng" dirty="0">
                <a:solidFill>
                  <a:srgbClr val="2A78D6"/>
                </a:solidFill>
                <a:latin typeface="Segoe UI"/>
                <a:hlinkClick r:id="rId3"/>
              </a:rPr>
              <a:t> AI-tools guidance</a:t>
            </a:r>
            <a:r>
              <a:rPr sz="1200" b="0" dirty="0">
                <a:solidFill>
                  <a:srgbClr val="52514E"/>
                </a:solidFill>
                <a:latin typeface="Segoe UI"/>
              </a:rPr>
              <a:t> before you paste anything into a tool.</a:t>
            </a:r>
          </a:p>
        </p:txBody>
      </p:sp>
      <p:pic>
        <p:nvPicPr>
          <p:cNvPr id="19" name="Picture 18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Is Copilot trustworthy with our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00784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SURF's DPIA on Microsoft 365 Copilot: </a:t>
            </a:r>
            <a:r>
              <a:rPr sz="1600" b="0">
                <a:solidFill>
                  <a:srgbClr val="52514E"/>
                </a:solidFill>
                <a:latin typeface="Segoe UI"/>
              </a:rPr>
              <a:t>4 high risks flagged in 2024 ('red') → down to 2 medium risks in 2025 ('orange'). Real, measured improvement — not a finished picture.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It keeps evolving: </a:t>
            </a:r>
            <a:r>
              <a:rPr sz="1600" b="0">
                <a:solidFill>
                  <a:srgbClr val="52514E"/>
                </a:solidFill>
                <a:latin typeface="Segoe UI"/>
              </a:rPr>
              <a:t>expect the risk assessment to keep shifting as Microsoft and SURF update it — worth rechecking, not a one-time verdict.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Institutional guidance: </a:t>
            </a:r>
            <a:r>
              <a:rPr sz="1600" b="0" u="sng">
                <a:solidFill>
                  <a:srgbClr val="2A78D6"/>
                </a:solidFill>
                <a:latin typeface="Segoe UI"/>
                <a:hlinkClick r:id="rId3"/>
              </a:rPr>
              <a:t>UHasselt's AI-tools page</a:t>
            </a:r>
            <a:r>
              <a:rPr sz="1600" b="0">
                <a:solidFill>
                  <a:srgbClr val="52514E"/>
                </a:solidFill>
                <a:latin typeface="Segoe UI"/>
              </a:rPr>
              <a:t> covers what's approved, for which tool, for which use case.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9654" y="3799332"/>
            <a:ext cx="10424160" cy="896112"/>
          </a:xfrm>
          <a:prstGeom prst="roundRect">
            <a:avLst/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500" b="1" dirty="0">
                <a:solidFill>
                  <a:srgbClr val="0B0B0B"/>
                </a:solidFill>
                <a:latin typeface="Segoe UI"/>
              </a:rPr>
              <a:t>The trend is the right one: </a:t>
            </a:r>
            <a:r>
              <a:rPr sz="1500" b="0" dirty="0">
                <a:solidFill>
                  <a:srgbClr val="52514E"/>
                </a:solidFill>
                <a:latin typeface="Segoe UI"/>
              </a:rPr>
              <a:t>risk keeps dropping as the tooling matures — a reason for due diligence today, not a reason to wait.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Segoe UI"/>
              </a:rPr>
              <a:t>18</a:t>
            </a:r>
          </a:p>
        </p:txBody>
      </p: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2628</Words>
  <Application>Microsoft Office PowerPoint</Application>
  <PresentationFormat>Widescreen</PresentationFormat>
  <Paragraphs>295</Paragraphs>
  <Slides>18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KUYPERS Soren</cp:lastModifiedBy>
  <cp:revision>41</cp:revision>
  <dcterms:created xsi:type="dcterms:W3CDTF">2013-01-27T09:14:16Z</dcterms:created>
  <dcterms:modified xsi:type="dcterms:W3CDTF">2026-07-28T12:55:38Z</dcterms:modified>
  <cp:category/>
</cp:coreProperties>
</file>