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EF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47" autoAdjust="0"/>
  </p:normalViewPr>
  <p:slideViewPr>
    <p:cSldViewPr snapToGrid="0" snapToObjects="1">
      <p:cViewPr varScale="1">
        <p:scale>
          <a:sx n="104" d="100"/>
          <a:sy n="104" d="100"/>
        </p:scale>
        <p:origin x="83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C52B13-F840-48B4-8A91-02B52A555FFB}" type="datetimeFigureOut">
              <a:rPr lang="nl-BE" smtClean="0"/>
              <a:t>28/07/2026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2002DD-0275-41CE-87EE-6CCAFDA78121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73066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Critical nuance behind this slide: an LLM actually has two different kinds of "knowing", and they behave very differently.</a:t>
            </a:r>
          </a:p>
          <a:p>
            <a:endParaRPr/>
          </a:p>
          <a:p>
            <a:r>
              <a:t>1) Parametric knowledge (baked into the weights during training) - this is the huge amount of data it was trained on. It's real, but it's compressed and statistical, not a lookup table. The model doesn't store documents verbatim; it stores patterns and associations distilled from billions of examples. This is also exactly why it defaults to average (slide 4): parametric knowledge is a blend of everything similar it has ever seen, not a precise fact.</a:t>
            </a:r>
          </a:p>
          <a:p>
            <a:endParaRPr/>
          </a:p>
          <a:p>
            <a:r>
              <a:t>2) Contextual knowledge (what's in the window right now) - specific, verbatim, and current. The model can quote it, reason over its exact wording, and treat it as ground truth for this conversation.</a:t>
            </a:r>
          </a:p>
          <a:p>
            <a:endParaRPr/>
          </a:p>
          <a:p>
            <a:r>
              <a:t>Why the context window still matters despite all that training data:</a:t>
            </a:r>
          </a:p>
          <a:p>
            <a:r>
              <a:t>- Frozen in time: training has a cutoff, so it cannot know your specific proposal, this year's call text, or anything that didn't exist (or wasn't public) when it was trained.</a:t>
            </a:r>
          </a:p>
          <a:p>
            <a:r>
              <a:t>- Never saw your specifics: it was never trained on your unpublished draft or your institution's internal criteria - those aren't in there to retrieve, at any resolution.</a:t>
            </a:r>
          </a:p>
          <a:p>
            <a:r>
              <a:t>- Fuzzy, not verbatim: even for things it was trained on, it's recalling a statistical blend, not a citation - ask it to quote exact numbers from memory and it will often confidently invent something plausible (the "confidently invented" line from slide 3).</a:t>
            </a:r>
          </a:p>
          <a:p>
            <a:r>
              <a:t>- Averaged, not excellent: training gives the generic version of "how a grant proposal usually looks"; context is what pulls it away from that average and grounds it in your specific, excellent case.</a:t>
            </a:r>
          </a:p>
          <a:p>
            <a:endParaRPr/>
          </a:p>
          <a:p>
            <a:r>
              <a:t>One-line answer if asked live: what's not in the window doesn't exist to the model as a fact it can verify or quote - only, at best, as a fuzzy statistical guess from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hasselt.be/nl/aparte-sites-uhasselt/ai-uhasselt/ai-tools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hasselt.be/nl/aparte-sites-uhasselt/ai-uhasselt/ai-tools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ris_title_shape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0" y="-713317"/>
            <a:ext cx="12204700" cy="47371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480560"/>
            <a:ext cx="91440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nl-BE" sz="1400" b="1" dirty="0">
                <a:solidFill>
                  <a:srgbClr val="2A78D6"/>
                </a:solidFill>
                <a:latin typeface="Segoe UI Semibold"/>
              </a:rPr>
              <a:t>08/Sept/2026: </a:t>
            </a:r>
            <a:r>
              <a:rPr sz="1400" b="1" dirty="0">
                <a:solidFill>
                  <a:srgbClr val="2A78D6"/>
                </a:solidFill>
                <a:latin typeface="Segoe UI Semibold"/>
              </a:rPr>
              <a:t>AI </a:t>
            </a:r>
            <a:r>
              <a:rPr lang="nl-BE" sz="1400" b="1" dirty="0">
                <a:solidFill>
                  <a:srgbClr val="2A78D6"/>
                </a:solidFill>
                <a:latin typeface="Segoe UI Semibold"/>
              </a:rPr>
              <a:t>in research</a:t>
            </a:r>
            <a:endParaRPr sz="1400" b="1" dirty="0">
              <a:solidFill>
                <a:srgbClr val="2A78D6"/>
              </a:solidFill>
              <a:latin typeface="Segoe UI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4882896"/>
            <a:ext cx="103327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600" b="1">
                <a:solidFill>
                  <a:srgbClr val="0B0B0B"/>
                </a:solidFill>
                <a:latin typeface="Segoe UI Semibold"/>
              </a:rPr>
              <a:t>Levels of Using AI in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15584"/>
            <a:ext cx="96012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0" dirty="0">
                <a:solidFill>
                  <a:srgbClr val="52514E"/>
                </a:solidFill>
                <a:latin typeface="Segoe UI"/>
              </a:rPr>
              <a:t>From a trainee who knows nothing to a trusted colleague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73152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dirty="0">
                <a:solidFill>
                  <a:srgbClr val="898781"/>
                </a:solidFill>
                <a:latin typeface="Segoe UI"/>
              </a:rPr>
              <a:t>S</a:t>
            </a:r>
            <a:r>
              <a:rPr lang="nl-BE" sz="1400" b="0" dirty="0">
                <a:solidFill>
                  <a:srgbClr val="898781"/>
                </a:solidFill>
                <a:latin typeface="Segoe UI"/>
              </a:rPr>
              <a:t>ö</a:t>
            </a:r>
            <a:r>
              <a:rPr sz="1400" b="0" dirty="0">
                <a:solidFill>
                  <a:srgbClr val="898781"/>
                </a:solidFill>
                <a:latin typeface="Segoe UI"/>
              </a:rPr>
              <a:t>ren Kuypers  ·  OBI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-137616" y="4023784"/>
            <a:ext cx="4694800" cy="0"/>
          </a:xfrm>
          <a:prstGeom prst="line">
            <a:avLst/>
          </a:prstGeom>
          <a:ln w="57150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07268" y="4023784"/>
            <a:ext cx="4694800" cy="0"/>
          </a:xfrm>
          <a:prstGeom prst="line">
            <a:avLst/>
          </a:prstGeom>
          <a:ln w="57150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cris_title_shape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410" y="4023784"/>
            <a:ext cx="3077633" cy="7239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border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3" y="76200"/>
            <a:ext cx="11826400" cy="66872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40080" y="256032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dirty="0">
                <a:solidFill>
                  <a:srgbClr val="2A78D6"/>
                </a:solidFill>
                <a:latin typeface="Segoe UI Semibold"/>
              </a:rPr>
              <a:t>IN THE NEXT 12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dirty="0">
                <a:solidFill>
                  <a:srgbClr val="0B0B0B"/>
                </a:solidFill>
                <a:latin typeface="Segoe UI Semibold"/>
              </a:rPr>
              <a:t>Think of AI as a trainee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188720" y="4640580"/>
            <a:ext cx="1630679" cy="434340"/>
          </a:xfrm>
          <a:prstGeom prst="line">
            <a:avLst/>
          </a:prstGeom>
          <a:ln w="31750">
            <a:solidFill>
              <a:srgbClr val="C7D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819399" y="4206240"/>
            <a:ext cx="1630681" cy="434340"/>
          </a:xfrm>
          <a:prstGeom prst="line">
            <a:avLst/>
          </a:prstGeom>
          <a:ln w="31750">
            <a:solidFill>
              <a:srgbClr val="C7D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4450080" y="3771900"/>
            <a:ext cx="1630679" cy="434340"/>
          </a:xfrm>
          <a:prstGeom prst="line">
            <a:avLst/>
          </a:prstGeom>
          <a:ln w="31750">
            <a:solidFill>
              <a:srgbClr val="C7D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080759" y="3337560"/>
            <a:ext cx="1630681" cy="434340"/>
          </a:xfrm>
          <a:prstGeom prst="line">
            <a:avLst/>
          </a:prstGeom>
          <a:ln w="31750">
            <a:solidFill>
              <a:srgbClr val="C7D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7711440" y="2903220"/>
            <a:ext cx="1630680" cy="434340"/>
          </a:xfrm>
          <a:prstGeom prst="line">
            <a:avLst/>
          </a:prstGeom>
          <a:ln w="31750">
            <a:solidFill>
              <a:srgbClr val="C7D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342120" y="2468880"/>
            <a:ext cx="1630680" cy="434340"/>
          </a:xfrm>
          <a:prstGeom prst="line">
            <a:avLst/>
          </a:prstGeom>
          <a:ln w="31750">
            <a:solidFill>
              <a:srgbClr val="C7D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96696" y="4882896"/>
            <a:ext cx="384048" cy="38404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36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340096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B0B0B"/>
                </a:solidFill>
                <a:latin typeface="Segoe UI Semibold"/>
              </a:rPr>
              <a:t>Cold 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5614416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52514E"/>
                </a:solidFill>
                <a:latin typeface="Segoe UI"/>
              </a:rPr>
              <a:t>no context, mixed results</a:t>
            </a:r>
          </a:p>
        </p:txBody>
      </p:sp>
      <p:sp>
        <p:nvSpPr>
          <p:cNvPr id="14" name="Oval 13"/>
          <p:cNvSpPr/>
          <p:nvPr/>
        </p:nvSpPr>
        <p:spPr>
          <a:xfrm>
            <a:off x="2583179" y="4404360"/>
            <a:ext cx="472439" cy="472439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13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42159" y="494995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B0B0B"/>
                </a:solidFill>
                <a:latin typeface="Segoe UI Semibold"/>
              </a:rPr>
              <a:t>Add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42159" y="522427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52514E"/>
                </a:solidFill>
                <a:latin typeface="Segoe UI"/>
              </a:rPr>
              <a:t>hand over files to read</a:t>
            </a:r>
          </a:p>
        </p:txBody>
      </p:sp>
      <p:sp>
        <p:nvSpPr>
          <p:cNvPr id="17" name="Oval 16"/>
          <p:cNvSpPr/>
          <p:nvPr/>
        </p:nvSpPr>
        <p:spPr>
          <a:xfrm>
            <a:off x="4169663" y="3925823"/>
            <a:ext cx="560832" cy="560832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9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2840" y="455980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B0B0B"/>
                </a:solidFill>
                <a:latin typeface="Segoe UI Semibold"/>
              </a:rPr>
              <a:t>Master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2840" y="4834128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52514E"/>
                </a:solidFill>
                <a:latin typeface="Segoe UI"/>
              </a:rPr>
              <a:t>search &amp; retrieve knowledge</a:t>
            </a:r>
          </a:p>
        </p:txBody>
      </p:sp>
      <p:sp>
        <p:nvSpPr>
          <p:cNvPr id="20" name="Oval 19"/>
          <p:cNvSpPr/>
          <p:nvPr/>
        </p:nvSpPr>
        <p:spPr>
          <a:xfrm>
            <a:off x="5756148" y="3447288"/>
            <a:ext cx="649224" cy="649224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68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416966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B0B0B"/>
                </a:solidFill>
                <a:latin typeface="Segoe UI Semibold"/>
              </a:rPr>
              <a:t>Skills &amp;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443984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52514E"/>
                </a:solidFill>
                <a:latin typeface="Segoe UI"/>
              </a:rPr>
              <a:t>trusted with real tasks</a:t>
            </a:r>
          </a:p>
        </p:txBody>
      </p:sp>
      <p:sp>
        <p:nvSpPr>
          <p:cNvPr id="23" name="Oval 22"/>
          <p:cNvSpPr/>
          <p:nvPr/>
        </p:nvSpPr>
        <p:spPr>
          <a:xfrm>
            <a:off x="7342632" y="2968752"/>
            <a:ext cx="737616" cy="737616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45" b="1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4200" y="37795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B0B0B"/>
                </a:solidFill>
                <a:latin typeface="Segoe UI Semibold"/>
              </a:rPr>
              <a:t>Multiple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4200" y="405384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52514E"/>
                </a:solidFill>
                <a:latin typeface="Segoe UI"/>
              </a:rPr>
              <a:t>one writes, another reviews</a:t>
            </a:r>
          </a:p>
        </p:txBody>
      </p:sp>
      <p:sp>
        <p:nvSpPr>
          <p:cNvPr id="26" name="Oval 25"/>
          <p:cNvSpPr/>
          <p:nvPr/>
        </p:nvSpPr>
        <p:spPr>
          <a:xfrm>
            <a:off x="8929116" y="2490216"/>
            <a:ext cx="826008" cy="82600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22" b="1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64880" y="3389376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B0B0B"/>
                </a:solidFill>
                <a:latin typeface="Segoe UI Semibold"/>
              </a:rPr>
              <a:t>Loops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64880" y="3663696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dirty="0">
                <a:solidFill>
                  <a:srgbClr val="52514E"/>
                </a:solidFill>
                <a:latin typeface="Segoe UI"/>
              </a:rPr>
              <a:t>agents that iterate on their own</a:t>
            </a:r>
          </a:p>
        </p:txBody>
      </p:sp>
      <p:sp>
        <p:nvSpPr>
          <p:cNvPr id="29" name="Oval 28"/>
          <p:cNvSpPr/>
          <p:nvPr/>
        </p:nvSpPr>
        <p:spPr>
          <a:xfrm>
            <a:off x="10515600" y="2011680"/>
            <a:ext cx="914400" cy="9144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 Semibold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5560" y="2999232"/>
            <a:ext cx="15544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BE" sz="1200" b="1" dirty="0">
                <a:solidFill>
                  <a:srgbClr val="0B0B0B"/>
                </a:solidFill>
                <a:latin typeface="Segoe UI Semibold"/>
              </a:rPr>
              <a:t>Full control</a:t>
            </a:r>
            <a:endParaRPr sz="1200" b="1" dirty="0">
              <a:solidFill>
                <a:srgbClr val="0B0B0B"/>
              </a:solidFill>
              <a:latin typeface="Segoe UI Semibold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195560" y="3273552"/>
            <a:ext cx="1554480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BE" sz="950" b="0" dirty="0" err="1">
                <a:solidFill>
                  <a:srgbClr val="52514E"/>
                </a:solidFill>
                <a:latin typeface="Segoe UI"/>
              </a:rPr>
              <a:t>Local</a:t>
            </a:r>
            <a:r>
              <a:rPr lang="nl-BE" sz="95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lang="nl-BE" sz="950" b="0" dirty="0" err="1">
                <a:solidFill>
                  <a:srgbClr val="52514E"/>
                </a:solidFill>
                <a:latin typeface="Segoe UI"/>
              </a:rPr>
              <a:t>models</a:t>
            </a:r>
            <a:endParaRPr sz="950" b="0" dirty="0">
              <a:solidFill>
                <a:srgbClr val="52514E"/>
              </a:solidFill>
              <a:latin typeface="Segoe U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65760" y="459028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898781"/>
                </a:solidFill>
                <a:latin typeface="Segoe UI"/>
              </a:rPr>
              <a:t>Day 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171907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898781"/>
                </a:solidFill>
                <a:latin typeface="Segoe UI"/>
              </a:rPr>
              <a:t>Trusted colleague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Segoe UI"/>
              </a:rPr>
              <a:t>Levels of Using AI in Research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47395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98781"/>
                </a:solidFill>
                <a:latin typeface="Segoe UI"/>
              </a:rPr>
              <a:t>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Picture 37" descr="cris_title_shape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6519672"/>
            <a:ext cx="771579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border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3" y="76200"/>
            <a:ext cx="11826400" cy="66872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40080" y="256032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A78D6"/>
                </a:solidFill>
                <a:latin typeface="Segoe UI Semibold"/>
              </a:rPr>
              <a:t>LEVEL 1 · COLD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Segoe UI Semibold"/>
              </a:rPr>
              <a:t>A trainee with zero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72768" y="2286000"/>
            <a:ext cx="3017520" cy="1691640"/>
          </a:xfrm>
          <a:prstGeom prst="roundRect">
            <a:avLst>
              <a:gd name="adj" fmla="val 10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600" b="1">
                <a:solidFill>
                  <a:srgbClr val="0B0B0B"/>
                </a:solidFill>
                <a:latin typeface="Segoe UI Semibold"/>
              </a:rPr>
              <a:t>The assignment</a:t>
            </a:r>
          </a:p>
          <a:p>
            <a:pPr algn="ctr"/>
            <a:r>
              <a:rPr sz="1150" b="0" i="1">
                <a:solidFill>
                  <a:srgbClr val="0B0B0B"/>
                </a:solidFill>
                <a:latin typeface="Segoe UI"/>
              </a:rPr>
              <a:t>(the prompt)</a:t>
            </a:r>
          </a:p>
          <a:p>
            <a:pPr algn="ctr"/>
            <a:r>
              <a:rPr sz="1150" b="0">
                <a:solidFill>
                  <a:srgbClr val="52514E"/>
                </a:solidFill>
                <a:latin typeface="Segoe UI"/>
              </a:rPr>
              <a:t>a task, no background,
no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90288" y="2948939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>
                <a:solidFill>
                  <a:srgbClr val="898781"/>
                </a:solidFill>
                <a:latin typeface="Segoe UI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1768" y="2286000"/>
            <a:ext cx="2560320" cy="1691640"/>
          </a:xfrm>
          <a:prstGeom prst="roundRect">
            <a:avLst>
              <a:gd name="adj" fmla="val 10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600" b="1">
                <a:solidFill>
                  <a:srgbClr val="0B0B0B"/>
                </a:solidFill>
                <a:latin typeface="Segoe UI Semibold"/>
              </a:rPr>
              <a:t>The trainee</a:t>
            </a:r>
          </a:p>
          <a:p>
            <a:pPr algn="ctr"/>
            <a:r>
              <a:rPr sz="1150" b="0" i="1">
                <a:solidFill>
                  <a:srgbClr val="0B0B0B"/>
                </a:solidFill>
                <a:latin typeface="Segoe UI"/>
              </a:rPr>
              <a:t>(the LLM)</a:t>
            </a:r>
          </a:p>
          <a:p>
            <a:pPr algn="ctr"/>
            <a:r>
              <a:rPr sz="1150" b="0">
                <a:solidFill>
                  <a:srgbClr val="52514E"/>
                </a:solidFill>
                <a:latin typeface="Segoe UI"/>
              </a:rPr>
              <a:t>zero context in the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62088" y="2948939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>
                <a:solidFill>
                  <a:srgbClr val="898781"/>
                </a:solidFill>
                <a:latin typeface="Segoe U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3568" y="2286000"/>
            <a:ext cx="2560320" cy="1691640"/>
          </a:xfrm>
          <a:prstGeom prst="roundRect">
            <a:avLst>
              <a:gd name="adj" fmla="val 10000"/>
            </a:avLst>
          </a:prstGeom>
          <a:solidFill>
            <a:srgbClr val="F9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600" b="1">
                <a:solidFill>
                  <a:srgbClr val="0B0B0B"/>
                </a:solidFill>
                <a:latin typeface="Segoe UI Semibold"/>
              </a:rPr>
              <a:t>The response</a:t>
            </a:r>
          </a:p>
          <a:p>
            <a:pPr algn="ctr"/>
            <a:r>
              <a:rPr sz="1150" b="0" i="1">
                <a:solidFill>
                  <a:srgbClr val="0B0B0B"/>
                </a:solidFill>
                <a:latin typeface="Segoe UI"/>
              </a:rPr>
              <a:t>(the output)</a:t>
            </a:r>
          </a:p>
          <a:p>
            <a:pPr algn="ctr"/>
            <a:r>
              <a:rPr sz="1150" b="0">
                <a:solidFill>
                  <a:srgbClr val="52514E"/>
                </a:solidFill>
                <a:latin typeface="Segoe UI"/>
              </a:rPr>
              <a:t>part genuinely solid,
part confidently invented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104241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20040" indent="-320040">
              <a:spcAft>
                <a:spcPts val="1400"/>
              </a:spcAft>
              <a:buFont typeface="Arial"/>
              <a:buChar char="—  "/>
            </a:pPr>
            <a:r>
              <a:rPr sz="1900" b="1">
                <a:solidFill>
                  <a:srgbClr val="0B0B0B"/>
                </a:solidFill>
                <a:latin typeface="Segoe UI"/>
              </a:rPr>
              <a:t>A smarter trainee might help — </a:t>
            </a:r>
            <a:r>
              <a:rPr sz="1900" b="0">
                <a:solidFill>
                  <a:srgbClr val="52514E"/>
                </a:solidFill>
                <a:latin typeface="Segoe UI"/>
              </a:rPr>
              <a:t>but so do other strategies. The next levels explore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Segoe UI"/>
              </a:rPr>
              <a:t>Levels of Using AI in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98781"/>
                </a:solidFill>
                <a:latin typeface="Segoe UI"/>
              </a:rPr>
              <a:t>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838944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85832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332720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79608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826496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1073384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1320272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75904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898781"/>
                </a:solidFill>
                <a:latin typeface="Segoe UI"/>
              </a:rPr>
              <a:t>LEVEL 1 / 7</a:t>
            </a:r>
          </a:p>
        </p:txBody>
      </p:sp>
      <p:pic>
        <p:nvPicPr>
          <p:cNvPr id="22" name="Picture 21" descr="cris_title_shape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6519672"/>
            <a:ext cx="771579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order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3" y="76200"/>
            <a:ext cx="11826400" cy="66872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40080" y="256032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A78D6"/>
                </a:solidFill>
                <a:latin typeface="Segoe UI Semibold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dirty="0">
                <a:solidFill>
                  <a:srgbClr val="0B0B0B"/>
                </a:solidFill>
                <a:latin typeface="Segoe UI Semibold"/>
              </a:rPr>
              <a:t>LLMs predict the average. Research needs excellence.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38375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20040" indent="-320040">
              <a:spcAft>
                <a:spcPts val="800"/>
              </a:spcAft>
              <a:buFont typeface="Arial"/>
              <a:buChar char="—  "/>
            </a:pPr>
            <a:r>
              <a:rPr sz="1700" b="1">
                <a:solidFill>
                  <a:srgbClr val="0B0B0B"/>
                </a:solidFill>
                <a:latin typeface="Segoe UI"/>
              </a:rPr>
              <a:t>This gap is the challenge — </a:t>
            </a:r>
            <a:r>
              <a:rPr sz="1700" b="0">
                <a:solidFill>
                  <a:srgbClr val="52514E"/>
                </a:solidFill>
                <a:latin typeface="Segoe UI"/>
              </a:rPr>
              <a:t>models default to average; research needs the right tail.</a:t>
            </a:r>
          </a:p>
          <a:p>
            <a:pPr marL="320040" indent="-320040">
              <a:spcAft>
                <a:spcPts val="800"/>
              </a:spcAft>
              <a:buFont typeface="Arial"/>
              <a:buChar char="—  "/>
            </a:pPr>
            <a:r>
              <a:rPr sz="1700" b="1">
                <a:solidFill>
                  <a:srgbClr val="0B0B0B"/>
                </a:solidFill>
                <a:latin typeface="Segoe UI"/>
              </a:rPr>
              <a:t>The next levels are strategies to close it: </a:t>
            </a:r>
            <a:r>
              <a:rPr sz="1700" b="0">
                <a:solidFill>
                  <a:srgbClr val="52514E"/>
                </a:solidFill>
                <a:latin typeface="Segoe UI"/>
              </a:rPr>
              <a:t>context, skills, second opinions, and more — not just a smarter trainee.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Segoe UI"/>
              </a:rPr>
              <a:t>Levels of Using AI in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98781"/>
                </a:solidFill>
                <a:latin typeface="Segoe UI"/>
              </a:rPr>
              <a:t>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cris_title_shape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6519672"/>
            <a:ext cx="771579" cy="182880"/>
          </a:xfrm>
          <a:prstGeom prst="rect">
            <a:avLst/>
          </a:prstGeom>
        </p:spPr>
      </p:pic>
      <p:pic>
        <p:nvPicPr>
          <p:cNvPr id="11" name="Picture 10" descr="pic10_n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6996" y="1371600"/>
            <a:ext cx="5394960" cy="28924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border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3" y="76200"/>
            <a:ext cx="11826400" cy="66872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40080" y="256032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A78D6"/>
                </a:solidFill>
                <a:latin typeface="Segoe UI Semibold"/>
              </a:rPr>
              <a:t>LEVEL 2 · ADD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Segoe UI Semibold"/>
              </a:rPr>
              <a:t>Give it something to read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49494" y="1572768"/>
            <a:ext cx="1417319" cy="1417320"/>
          </a:xfrm>
          <a:prstGeom prst="roundRect">
            <a:avLst>
              <a:gd name="adj" fmla="val 10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300" b="1">
                <a:solidFill>
                  <a:srgbClr val="0B0B0B"/>
                </a:solidFill>
                <a:latin typeface="Segoe UI Semibold"/>
              </a:rPr>
              <a:t>Assignment</a:t>
            </a:r>
          </a:p>
          <a:p>
            <a:pPr algn="ctr"/>
            <a:r>
              <a:rPr sz="1000" b="0" i="1">
                <a:solidFill>
                  <a:srgbClr val="0B0B0B"/>
                </a:solidFill>
                <a:latin typeface="Segoe UI"/>
              </a:rPr>
              <a:t>(the prompt)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49694" y="1572768"/>
            <a:ext cx="1417319" cy="1417320"/>
          </a:xfrm>
          <a:prstGeom prst="roundRect">
            <a:avLst>
              <a:gd name="adj" fmla="val 10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300" b="1" dirty="0">
                <a:solidFill>
                  <a:srgbClr val="0B0B0B"/>
                </a:solidFill>
                <a:latin typeface="Segoe UI Semibold"/>
              </a:rPr>
              <a:t>+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67014" y="2098547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>
                <a:solidFill>
                  <a:srgbClr val="898781"/>
                </a:solidFill>
                <a:latin typeface="Segoe U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78494" y="1572768"/>
            <a:ext cx="2560320" cy="1417320"/>
          </a:xfrm>
          <a:prstGeom prst="roundRect">
            <a:avLst>
              <a:gd name="adj" fmla="val 10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500" b="1">
                <a:solidFill>
                  <a:srgbClr val="0B0B0B"/>
                </a:solidFill>
                <a:latin typeface="Segoe UI Semibold"/>
              </a:rPr>
              <a:t>The trainee</a:t>
            </a:r>
          </a:p>
          <a:p>
            <a:pPr algn="ctr"/>
            <a:r>
              <a:rPr sz="1100" b="0" i="1">
                <a:solidFill>
                  <a:srgbClr val="0B0B0B"/>
                </a:solidFill>
                <a:latin typeface="Segoe UI"/>
              </a:rPr>
              <a:t>(the LLM)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38814" y="2098547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>
                <a:solidFill>
                  <a:srgbClr val="898781"/>
                </a:solidFill>
                <a:latin typeface="Segoe U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50294" y="1572768"/>
            <a:ext cx="2560320" cy="1417320"/>
          </a:xfrm>
          <a:prstGeom prst="roundRect">
            <a:avLst>
              <a:gd name="adj" fmla="val 10000"/>
            </a:avLst>
          </a:prstGeom>
          <a:solidFill>
            <a:srgbClr val="F9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500" b="1">
                <a:solidFill>
                  <a:srgbClr val="0B0B0B"/>
                </a:solidFill>
                <a:latin typeface="Segoe UI Semibold"/>
              </a:rPr>
              <a:t>The response</a:t>
            </a:r>
          </a:p>
          <a:p>
            <a:pPr algn="ctr"/>
            <a:r>
              <a:rPr sz="1100" b="0" i="1">
                <a:solidFill>
                  <a:srgbClr val="0B0B0B"/>
                </a:solidFill>
                <a:latin typeface="Segoe UI"/>
              </a:rPr>
              <a:t>(the output)</a:t>
            </a:r>
          </a:p>
          <a:p>
            <a:pPr algn="ctr"/>
            <a:r>
              <a:rPr sz="1050" b="0">
                <a:solidFill>
                  <a:srgbClr val="52514E"/>
                </a:solidFill>
                <a:latin typeface="Segoe UI"/>
              </a:rPr>
              <a:t>fewer blanks filled
in from guesswork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10424160" cy="11592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20040" indent="-320040">
              <a:spcAft>
                <a:spcPts val="800"/>
              </a:spcAft>
              <a:buFont typeface="Arial"/>
              <a:buChar char="—  "/>
            </a:pPr>
            <a:r>
              <a:rPr sz="1550" b="1" dirty="0">
                <a:solidFill>
                  <a:srgbClr val="0B0B0B"/>
                </a:solidFill>
                <a:latin typeface="Segoe UI"/>
              </a:rPr>
              <a:t>Claude: </a:t>
            </a:r>
            <a:r>
              <a:rPr sz="1550" b="0" dirty="0">
                <a:solidFill>
                  <a:srgbClr val="52514E"/>
                </a:solidFill>
                <a:latin typeface="Segoe UI"/>
              </a:rPr>
              <a:t>drag a file into the chat — read once, part of this conversation only.</a:t>
            </a:r>
          </a:p>
          <a:p>
            <a:pPr marL="320040" indent="-320040">
              <a:spcAft>
                <a:spcPts val="800"/>
              </a:spcAft>
              <a:buFont typeface="Arial"/>
              <a:buChar char="—  "/>
            </a:pPr>
            <a:r>
              <a:rPr sz="1550" b="1" dirty="0">
                <a:solidFill>
                  <a:srgbClr val="0B0B0B"/>
                </a:solidFill>
                <a:latin typeface="Segoe UI"/>
              </a:rPr>
              <a:t>ChatGPT: </a:t>
            </a:r>
            <a:r>
              <a:rPr sz="1550" b="0" dirty="0">
                <a:solidFill>
                  <a:srgbClr val="52514E"/>
                </a:solidFill>
                <a:latin typeface="Segoe UI"/>
              </a:rPr>
              <a:t>attach a file to a message — same idea</a:t>
            </a:r>
            <a:endParaRPr lang="nl-BE" sz="1550" b="0" dirty="0">
              <a:solidFill>
                <a:srgbClr val="52514E"/>
              </a:solidFill>
              <a:latin typeface="Segoe UI"/>
            </a:endParaRPr>
          </a:p>
          <a:p>
            <a:pPr marL="320040" indent="-320040">
              <a:spcAft>
                <a:spcPts val="800"/>
              </a:spcAft>
              <a:buFont typeface="Arial"/>
              <a:buChar char="—  "/>
            </a:pPr>
            <a:r>
              <a:rPr sz="1550" b="1" dirty="0">
                <a:solidFill>
                  <a:srgbClr val="0B0B0B"/>
                </a:solidFill>
                <a:latin typeface="Segoe UI"/>
              </a:rPr>
              <a:t>Copilot: </a:t>
            </a:r>
            <a:r>
              <a:rPr lang="nl-BE" sz="1550" dirty="0">
                <a:solidFill>
                  <a:srgbClr val="0B0B0B"/>
                </a:solidFill>
                <a:latin typeface="Segoe UI"/>
              </a:rPr>
              <a:t>Upload </a:t>
            </a:r>
            <a:r>
              <a:rPr lang="nl-BE" sz="1550" dirty="0" err="1">
                <a:solidFill>
                  <a:srgbClr val="0B0B0B"/>
                </a:solidFill>
                <a:latin typeface="Segoe UI"/>
              </a:rPr>
              <a:t>possible</a:t>
            </a:r>
            <a:r>
              <a:rPr lang="nl-BE" sz="1550" dirty="0">
                <a:solidFill>
                  <a:srgbClr val="0B0B0B"/>
                </a:solidFill>
                <a:latin typeface="Segoe UI"/>
              </a:rPr>
              <a:t>, but </a:t>
            </a:r>
            <a:r>
              <a:rPr sz="1550" b="0" dirty="0">
                <a:solidFill>
                  <a:srgbClr val="52514E"/>
                </a:solidFill>
                <a:latin typeface="Segoe UI"/>
              </a:rPr>
              <a:t>type “/” in the chat to pull a file straight from SharePoint or OneDrive — no upload needed.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39390"/>
            <a:ext cx="10424160" cy="1300000"/>
          </a:xfrm>
          <a:prstGeom prst="roundRect">
            <a:avLst>
              <a:gd name="adj" fmla="val 8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bIns="109728" rtlCol="0" anchor="ctr"/>
          <a:lstStyle/>
          <a:p>
            <a:pPr algn="l"/>
            <a:r>
              <a:rPr sz="1300" b="0" dirty="0">
                <a:solidFill>
                  <a:srgbClr val="52514E"/>
                </a:solidFill>
                <a:latin typeface="Segoe UI"/>
              </a:rPr>
              <a:t>Tip: some models read PDFs and images far better than others — ask a model to summarize a PDF or image into text first.</a:t>
            </a:r>
            <a:endParaRPr lang="nl-BE" sz="1300" b="0" dirty="0">
              <a:solidFill>
                <a:srgbClr val="52514E"/>
              </a:solidFill>
              <a:latin typeface="Segoe UI"/>
            </a:endParaRPr>
          </a:p>
          <a:p>
            <a:pPr algn="l"/>
            <a:endParaRPr sz="1300" b="0" dirty="0">
              <a:solidFill>
                <a:srgbClr val="52514E"/>
              </a:solidFill>
              <a:latin typeface="Segoe UI"/>
            </a:endParaRPr>
          </a:p>
          <a:p>
            <a:pPr algn="l"/>
            <a:r>
              <a:rPr sz="1300" b="0" dirty="0">
                <a:solidFill>
                  <a:srgbClr val="52514E"/>
                </a:solidFill>
                <a:latin typeface="Segoe UI"/>
              </a:rPr>
              <a:t>Tip: attach a strong worked example alongside the assignment — showing what “good” looks like lifts quality more than describing it (few-shot beats instructions alone).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Segoe UI"/>
              </a:rPr>
              <a:t>Levels of Using AI in 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7395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98781"/>
                </a:solidFill>
                <a:latin typeface="Segoe UI"/>
              </a:rPr>
              <a:t>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838944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85832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332720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79608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826496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1073384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1320272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75904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898781"/>
                </a:solidFill>
                <a:latin typeface="Segoe UI"/>
              </a:rPr>
              <a:t>LEVEL 2 / 7</a:t>
            </a:r>
          </a:p>
        </p:txBody>
      </p:sp>
      <p:pic>
        <p:nvPicPr>
          <p:cNvPr id="24" name="Picture 23" descr="cris_title_shape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6519672"/>
            <a:ext cx="771579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border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33" y="76200"/>
            <a:ext cx="11826400" cy="66872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40080" y="256032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A78D6"/>
                </a:solidFill>
                <a:latin typeface="Segoe UI Semibold"/>
              </a:rPr>
              <a:t>LEVEL 3 · MASTER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Segoe UI Semibold"/>
              </a:rPr>
              <a:t>The context window is the key to better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65960"/>
            <a:ext cx="6400800" cy="2148840"/>
          </a:xfrm>
          <a:prstGeom prst="roundRect">
            <a:avLst>
              <a:gd name="adj" fmla="val 6000"/>
            </a:avLst>
          </a:prstGeom>
          <a:solidFill>
            <a:srgbClr val="F0EFEC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2A78D6"/>
                </a:solidFill>
                <a:latin typeface="Segoe UI Semibold"/>
              </a:rPr>
              <a:t>CONTEXT WINDOW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79" y="2468880"/>
            <a:ext cx="1920240" cy="1417320"/>
          </a:xfrm>
          <a:prstGeom prst="roundRect">
            <a:avLst>
              <a:gd name="adj" fmla="val 10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200" b="1">
                <a:solidFill>
                  <a:srgbClr val="0B0B0B"/>
                </a:solidFill>
                <a:latin typeface="Segoe UI Semibold"/>
              </a:rPr>
              <a:t>System prompt</a:t>
            </a:r>
          </a:p>
          <a:p>
            <a:pPr algn="ctr"/>
            <a:r>
              <a:rPr sz="950" b="0">
                <a:solidFill>
                  <a:srgbClr val="0B0B0B"/>
                </a:solidFill>
                <a:latin typeface="Segoe UI"/>
              </a:rPr>
              <a:t>(you can't change this)</a:t>
            </a:r>
          </a:p>
          <a:p>
            <a:r>
              <a:rPr sz="1000" b="0">
                <a:solidFill>
                  <a:srgbClr val="52514E"/>
                </a:solidFill>
                <a:latin typeface="Segoe UI"/>
              </a:rPr>
              <a:t>standing instructions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2468880"/>
            <a:ext cx="1920240" cy="1417320"/>
          </a:xfrm>
          <a:prstGeom prst="roundRect">
            <a:avLst>
              <a:gd name="adj" fmla="val 10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200" b="1">
                <a:solidFill>
                  <a:srgbClr val="0B0B0B"/>
                </a:solidFill>
                <a:latin typeface="Segoe UI Semibold"/>
              </a:rPr>
              <a:t>Assignment</a:t>
            </a:r>
          </a:p>
          <a:p>
            <a:pPr algn="ctr"/>
            <a:r>
              <a:rPr sz="950" b="0" i="1">
                <a:solidFill>
                  <a:srgbClr val="0B0B0B"/>
                </a:solidFill>
                <a:latin typeface="Segoe UI"/>
              </a:rPr>
              <a:t>(user prompt)</a:t>
            </a:r>
          </a:p>
          <a:p>
            <a:pPr algn="ctr"/>
            <a:r>
              <a:rPr sz="1000" b="0">
                <a:solidFill>
                  <a:srgbClr val="52514E"/>
                </a:solidFill>
                <a:latin typeface="Segoe UI"/>
              </a:rPr>
              <a:t>what you're asking
right now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2468880"/>
            <a:ext cx="1920240" cy="1417320"/>
          </a:xfrm>
          <a:prstGeom prst="roundRect">
            <a:avLst>
              <a:gd name="adj" fmla="val 10000"/>
            </a:avLst>
          </a:prstGeom>
          <a:solidFill>
            <a:srgbClr val="F9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200" b="1">
                <a:solidFill>
                  <a:srgbClr val="0B0B0B"/>
                </a:solidFill>
                <a:latin typeface="Segoe UI Semibold"/>
              </a:rPr>
              <a:t>Files &amp; history</a:t>
            </a:r>
          </a:p>
          <a:p>
            <a:pPr algn="ctr"/>
            <a:r>
              <a:rPr sz="1000" b="0">
                <a:solidFill>
                  <a:srgbClr val="52514E"/>
                </a:solidFill>
                <a:latin typeface="Segoe UI"/>
              </a:rPr>
              <a:t>attached content,
chat so far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85750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>
                <a:solidFill>
                  <a:srgbClr val="898781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263140"/>
            <a:ext cx="1554480" cy="1554480"/>
          </a:xfrm>
          <a:prstGeom prst="roundRect">
            <a:avLst>
              <a:gd name="adj" fmla="val 10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300" b="1">
                <a:solidFill>
                  <a:srgbClr val="0B0B0B"/>
                </a:solidFill>
                <a:latin typeface="Segoe UI Semibold"/>
              </a:rPr>
              <a:t>The trainee</a:t>
            </a:r>
          </a:p>
          <a:p>
            <a:pPr algn="ctr"/>
            <a:r>
              <a:rPr sz="1050" b="0" i="1">
                <a:solidFill>
                  <a:srgbClr val="0B0B0B"/>
                </a:solidFill>
                <a:latin typeface="Segoe UI"/>
              </a:rPr>
              <a:t>(the LLM)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285750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>
                <a:solidFill>
                  <a:srgbClr val="898781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59" y="2263140"/>
            <a:ext cx="1554480" cy="1554480"/>
          </a:xfrm>
          <a:prstGeom prst="roundRect">
            <a:avLst>
              <a:gd name="adj" fmla="val 10000"/>
            </a:avLst>
          </a:prstGeom>
          <a:solidFill>
            <a:srgbClr val="F9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300" b="1">
                <a:solidFill>
                  <a:srgbClr val="0B0B0B"/>
                </a:solidFill>
                <a:latin typeface="Segoe UI Semibold"/>
              </a:rPr>
              <a:t>The response</a:t>
            </a:r>
          </a:p>
          <a:p>
            <a:pPr algn="ctr"/>
            <a:r>
              <a:rPr sz="1050" b="0" i="1">
                <a:solidFill>
                  <a:srgbClr val="0B0B0B"/>
                </a:solidFill>
                <a:latin typeface="Segoe UI"/>
              </a:rPr>
              <a:t>(the output)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34840"/>
            <a:ext cx="1042416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20040" indent="-320040">
              <a:spcAft>
                <a:spcPts val="1400"/>
              </a:spcAft>
              <a:buFont typeface="Arial"/>
              <a:buChar char="—  "/>
            </a:pPr>
            <a:r>
              <a:rPr sz="1700" b="1" dirty="0">
                <a:solidFill>
                  <a:srgbClr val="0B0B0B"/>
                </a:solidFill>
                <a:latin typeface="Segoe UI"/>
              </a:rPr>
              <a:t>What's not inside this window doesn't exist to the model</a:t>
            </a:r>
            <a:endParaRPr sz="1700" b="0" dirty="0">
              <a:solidFill>
                <a:srgbClr val="52514E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Segoe UI"/>
              </a:rPr>
              <a:t>Levels of Using AI in 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7395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98781"/>
                </a:solidFill>
                <a:latin typeface="Segoe UI"/>
              </a:rPr>
              <a:t>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838944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85832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332720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79608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826496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1073384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1320272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75904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898781"/>
                </a:solidFill>
                <a:latin typeface="Segoe UI"/>
              </a:rPr>
              <a:t>LEVEL 3 /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80000"/>
            <a:ext cx="1042416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898781"/>
                </a:solidFill>
                <a:latin typeface="Segoe UI"/>
              </a:rPr>
              <a:t>Training still gives it general, averaged knowledge — the window is what makes it specific, current, and checkable.</a:t>
            </a:r>
          </a:p>
        </p:txBody>
      </p:sp>
      <p:pic>
        <p:nvPicPr>
          <p:cNvPr id="27" name="Picture 26" descr="cris_title_shape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6519672"/>
            <a:ext cx="771579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border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3" y="76200"/>
            <a:ext cx="11826400" cy="66872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40080" y="256032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dirty="0">
                <a:solidFill>
                  <a:srgbClr val="2A78D6"/>
                </a:solidFill>
                <a:latin typeface="Segoe UI Semibold"/>
              </a:rPr>
              <a:t>LEVEL 3 · MASTER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dirty="0">
                <a:solidFill>
                  <a:srgbClr val="0B0B0B"/>
                </a:solidFill>
                <a:latin typeface="Segoe UI Semibold"/>
              </a:rPr>
              <a:t>Instead </a:t>
            </a:r>
            <a:r>
              <a:rPr lang="nl-BE" sz="3000" b="1" dirty="0" err="1">
                <a:solidFill>
                  <a:srgbClr val="0B0B0B"/>
                </a:solidFill>
                <a:latin typeface="Segoe UI Semibold"/>
              </a:rPr>
              <a:t>giving</a:t>
            </a:r>
            <a:r>
              <a:rPr lang="nl-BE" sz="3000" b="1" dirty="0">
                <a:solidFill>
                  <a:srgbClr val="0B0B0B"/>
                </a:solidFill>
                <a:latin typeface="Segoe UI Semibold"/>
              </a:rPr>
              <a:t> </a:t>
            </a:r>
            <a:r>
              <a:rPr lang="nl-BE" sz="3000" b="1" dirty="0" err="1">
                <a:solidFill>
                  <a:srgbClr val="0B0B0B"/>
                </a:solidFill>
                <a:latin typeface="Segoe UI Semibold"/>
              </a:rPr>
              <a:t>it</a:t>
            </a:r>
            <a:r>
              <a:rPr lang="nl-BE" sz="3000" b="1" dirty="0">
                <a:solidFill>
                  <a:srgbClr val="0B0B0B"/>
                </a:solidFill>
                <a:latin typeface="Segoe UI Semibold"/>
              </a:rPr>
              <a:t> </a:t>
            </a:r>
            <a:r>
              <a:rPr lang="nl-BE" sz="3000" b="1" dirty="0" err="1">
                <a:solidFill>
                  <a:srgbClr val="0B0B0B"/>
                </a:solidFill>
                <a:latin typeface="Segoe UI Semibold"/>
              </a:rPr>
              <a:t>something</a:t>
            </a:r>
            <a:r>
              <a:rPr lang="nl-BE" sz="3000" b="1" dirty="0">
                <a:solidFill>
                  <a:srgbClr val="0B0B0B"/>
                </a:solidFill>
                <a:latin typeface="Segoe UI Semibold"/>
              </a:rPr>
              <a:t> </a:t>
            </a:r>
            <a:r>
              <a:rPr lang="nl-BE" sz="3000" b="1" dirty="0" err="1">
                <a:solidFill>
                  <a:srgbClr val="0B0B0B"/>
                </a:solidFill>
                <a:latin typeface="Segoe UI Semibold"/>
              </a:rPr>
              <a:t>to</a:t>
            </a:r>
            <a:r>
              <a:rPr lang="nl-BE" sz="3000" b="1" dirty="0">
                <a:solidFill>
                  <a:srgbClr val="0B0B0B"/>
                </a:solidFill>
                <a:latin typeface="Segoe UI Semibold"/>
              </a:rPr>
              <a:t> </a:t>
            </a:r>
            <a:r>
              <a:rPr lang="nl-BE" sz="3000" b="1" dirty="0" err="1">
                <a:solidFill>
                  <a:srgbClr val="0B0B0B"/>
                </a:solidFill>
                <a:latin typeface="Segoe UI Semibold"/>
              </a:rPr>
              <a:t>read</a:t>
            </a:r>
            <a:r>
              <a:rPr sz="3000" b="1" dirty="0">
                <a:solidFill>
                  <a:srgbClr val="0B0B0B"/>
                </a:solidFill>
                <a:latin typeface="Segoe UI Semibold"/>
              </a:rPr>
              <a:t>, let it search</a:t>
            </a:r>
            <a:r>
              <a:rPr lang="nl-BE" sz="3000" b="1" dirty="0">
                <a:solidFill>
                  <a:srgbClr val="0B0B0B"/>
                </a:solidFill>
                <a:latin typeface="Segoe UI Semibold"/>
              </a:rPr>
              <a:t> </a:t>
            </a:r>
            <a:r>
              <a:rPr lang="nl-BE" sz="3000" b="1" dirty="0" err="1">
                <a:solidFill>
                  <a:srgbClr val="0B0B0B"/>
                </a:solidFill>
                <a:latin typeface="Segoe UI Semibold"/>
              </a:rPr>
              <a:t>through</a:t>
            </a:r>
            <a:r>
              <a:rPr lang="nl-BE" sz="3000" b="1" dirty="0">
                <a:solidFill>
                  <a:srgbClr val="0B0B0B"/>
                </a:solidFill>
                <a:latin typeface="Segoe UI Semibold"/>
              </a:rPr>
              <a:t> a </a:t>
            </a:r>
            <a:r>
              <a:rPr lang="nl-BE" sz="3000" b="1" dirty="0" err="1">
                <a:solidFill>
                  <a:srgbClr val="0B0B0B"/>
                </a:solidFill>
                <a:latin typeface="Segoe UI Semibold"/>
              </a:rPr>
              <a:t>knowledge</a:t>
            </a:r>
            <a:r>
              <a:rPr lang="nl-BE" sz="3000" b="1" dirty="0">
                <a:solidFill>
                  <a:srgbClr val="0B0B0B"/>
                </a:solidFill>
                <a:latin typeface="Segoe UI Semibold"/>
              </a:rPr>
              <a:t> base</a:t>
            </a:r>
            <a:endParaRPr sz="3000" b="1" dirty="0">
              <a:solidFill>
                <a:srgbClr val="0B0B0B"/>
              </a:solidFill>
              <a:latin typeface="Segoe UI Semibold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572768" y="1780687"/>
            <a:ext cx="1417319" cy="1417320"/>
          </a:xfrm>
          <a:prstGeom prst="roundRect">
            <a:avLst>
              <a:gd name="adj" fmla="val 10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300" b="1">
                <a:solidFill>
                  <a:srgbClr val="0B0B0B"/>
                </a:solidFill>
                <a:latin typeface="Segoe UI Semibold"/>
              </a:rPr>
              <a:t>Assignment</a:t>
            </a:r>
          </a:p>
          <a:p>
            <a:pPr algn="ctr"/>
            <a:r>
              <a:rPr sz="1000" b="0" i="1">
                <a:solidFill>
                  <a:srgbClr val="0B0B0B"/>
                </a:solidFill>
                <a:latin typeface="Segoe UI"/>
              </a:rPr>
              <a:t>(the prompt)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0488" y="1789831"/>
            <a:ext cx="1417319" cy="1417320"/>
          </a:xfrm>
          <a:prstGeom prst="roundRect">
            <a:avLst>
              <a:gd name="adj" fmla="val 10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300" b="1">
                <a:solidFill>
                  <a:srgbClr val="0B0B0B"/>
                </a:solidFill>
                <a:latin typeface="Segoe UI Semibold"/>
              </a:rPr>
              <a:t>+ Searches</a:t>
            </a:r>
          </a:p>
          <a:p>
            <a:pPr algn="ctr"/>
            <a:r>
              <a:rPr sz="1000" b="0" i="1">
                <a:solidFill>
                  <a:srgbClr val="0B0B0B"/>
                </a:solidFill>
                <a:latin typeface="Segoe UI"/>
              </a:rPr>
              <a:t>a knowledge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73908" y="2274463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dirty="0">
                <a:solidFill>
                  <a:srgbClr val="898781"/>
                </a:solidFill>
                <a:latin typeface="Segoe U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9209" y="1776115"/>
            <a:ext cx="2560320" cy="1417320"/>
          </a:xfrm>
          <a:prstGeom prst="roundRect">
            <a:avLst>
              <a:gd name="adj" fmla="val 10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500" b="1">
                <a:solidFill>
                  <a:srgbClr val="0B0B0B"/>
                </a:solidFill>
                <a:latin typeface="Segoe UI Semibold"/>
              </a:rPr>
              <a:t>The trainee</a:t>
            </a:r>
          </a:p>
          <a:p>
            <a:pPr algn="ctr"/>
            <a:r>
              <a:rPr sz="1100" b="0" i="1">
                <a:solidFill>
                  <a:srgbClr val="0B0B0B"/>
                </a:solidFill>
                <a:latin typeface="Segoe UI"/>
              </a:rPr>
              <a:t>(the LLM)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2088" y="2306467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>
                <a:solidFill>
                  <a:srgbClr val="898781"/>
                </a:solidFill>
                <a:latin typeface="Segoe U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73568" y="1780687"/>
            <a:ext cx="2560320" cy="1417320"/>
          </a:xfrm>
          <a:prstGeom prst="roundRect">
            <a:avLst>
              <a:gd name="adj" fmla="val 10000"/>
            </a:avLst>
          </a:prstGeom>
          <a:solidFill>
            <a:srgbClr val="F9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500" b="1">
                <a:solidFill>
                  <a:srgbClr val="0B0B0B"/>
                </a:solidFill>
                <a:latin typeface="Segoe UI Semibold"/>
              </a:rPr>
              <a:t>The response</a:t>
            </a:r>
          </a:p>
          <a:p>
            <a:pPr algn="ctr"/>
            <a:r>
              <a:rPr sz="1100" b="0" i="1">
                <a:solidFill>
                  <a:srgbClr val="0B0B0B"/>
                </a:solidFill>
                <a:latin typeface="Segoe UI"/>
              </a:rPr>
              <a:t>(the output)</a:t>
            </a:r>
          </a:p>
          <a:p>
            <a:pPr algn="ctr"/>
            <a:r>
              <a:rPr sz="1050" b="0">
                <a:solidFill>
                  <a:srgbClr val="52514E"/>
                </a:solidFill>
                <a:latin typeface="Segoe UI"/>
              </a:rPr>
              <a:t>grounded in what was
actually found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93592"/>
            <a:ext cx="10424160" cy="2318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20040" indent="-320040">
              <a:spcAft>
                <a:spcPts val="800"/>
              </a:spcAft>
              <a:buFont typeface="Arial"/>
              <a:buChar char="—  "/>
            </a:pPr>
            <a:r>
              <a:rPr sz="1550" b="1" dirty="0">
                <a:solidFill>
                  <a:srgbClr val="0B0B0B"/>
                </a:solidFill>
                <a:latin typeface="Segoe UI"/>
              </a:rPr>
              <a:t>One way to do this is RAG — Retrieval-Augmented Generation: </a:t>
            </a:r>
            <a:r>
              <a:rPr sz="1550" b="0" dirty="0">
                <a:solidFill>
                  <a:srgbClr val="52514E"/>
                </a:solidFill>
                <a:latin typeface="Segoe UI"/>
              </a:rPr>
              <a:t>the model searches your documents at question time instead of having them all preloaded.</a:t>
            </a:r>
            <a:endParaRPr lang="nl-BE" sz="1550" b="0" dirty="0">
              <a:solidFill>
                <a:srgbClr val="52514E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lang="nl-BE" sz="1550" b="1" dirty="0">
                <a:solidFill>
                  <a:schemeClr val="tx2"/>
                </a:solidFill>
                <a:latin typeface="Segoe UI"/>
              </a:rPr>
              <a:t>How </a:t>
            </a:r>
            <a:r>
              <a:rPr lang="nl-BE" sz="1550" b="1" dirty="0" err="1">
                <a:solidFill>
                  <a:schemeClr val="tx2"/>
                </a:solidFill>
                <a:latin typeface="Segoe UI"/>
              </a:rPr>
              <a:t>to</a:t>
            </a:r>
            <a:r>
              <a:rPr lang="nl-BE" sz="1550" b="1" dirty="0">
                <a:solidFill>
                  <a:schemeClr val="tx2"/>
                </a:solidFill>
                <a:latin typeface="Segoe UI"/>
              </a:rPr>
              <a:t> </a:t>
            </a:r>
            <a:r>
              <a:rPr lang="nl-BE" sz="1550" b="1" dirty="0" err="1">
                <a:solidFill>
                  <a:schemeClr val="tx2"/>
                </a:solidFill>
                <a:latin typeface="Segoe UI"/>
              </a:rPr>
              <a:t>apply</a:t>
            </a:r>
            <a:r>
              <a:rPr lang="nl-BE" sz="1550" b="1" dirty="0">
                <a:solidFill>
                  <a:schemeClr val="tx2"/>
                </a:solidFill>
                <a:latin typeface="Segoe UI"/>
              </a:rPr>
              <a:t>?</a:t>
            </a:r>
            <a:endParaRPr sz="1550" b="1" dirty="0">
              <a:solidFill>
                <a:schemeClr val="tx2"/>
              </a:solidFill>
              <a:latin typeface="Segoe UI"/>
            </a:endParaRPr>
          </a:p>
          <a:p>
            <a:pPr marL="320040" indent="-320040">
              <a:spcAft>
                <a:spcPts val="800"/>
              </a:spcAft>
              <a:buFont typeface="Arial"/>
              <a:buChar char="—  "/>
            </a:pPr>
            <a:r>
              <a:rPr sz="1550" b="1" dirty="0">
                <a:solidFill>
                  <a:srgbClr val="0B0B0B"/>
                </a:solidFill>
                <a:latin typeface="Segoe UI"/>
              </a:rPr>
              <a:t>Claude: </a:t>
            </a:r>
            <a:r>
              <a:rPr sz="1550" b="0" dirty="0">
                <a:solidFill>
                  <a:srgbClr val="52514E"/>
                </a:solidFill>
                <a:latin typeface="Segoe UI"/>
              </a:rPr>
              <a:t>Projects auto-expand past the context window on any plan, including free — RAG kicks in automatically for up to 10x more capacity, no setup needed.</a:t>
            </a:r>
            <a:r>
              <a:rPr lang="nl-BE" sz="1550" b="0" dirty="0">
                <a:solidFill>
                  <a:srgbClr val="52514E"/>
                </a:solidFill>
                <a:latin typeface="Segoe UI"/>
              </a:rPr>
              <a:t> </a:t>
            </a:r>
          </a:p>
          <a:p>
            <a:pPr marL="320040" indent="-320040">
              <a:spcAft>
                <a:spcPts val="800"/>
              </a:spcAft>
              <a:buFont typeface="Arial"/>
              <a:buChar char="—  "/>
            </a:pPr>
            <a:r>
              <a:rPr sz="1550" b="1" dirty="0">
                <a:solidFill>
                  <a:srgbClr val="0B0B0B"/>
                </a:solidFill>
                <a:latin typeface="Segoe UI"/>
              </a:rPr>
              <a:t>ChatGPT: </a:t>
            </a:r>
            <a:r>
              <a:rPr sz="1550" b="0" dirty="0">
                <a:solidFill>
                  <a:srgbClr val="52514E"/>
                </a:solidFill>
                <a:latin typeface="Segoe UI"/>
              </a:rPr>
              <a:t>Custom GPTs chunk, embed, and search up to 20 knowledge files at question time (creating one needs ChatGPT Plus).</a:t>
            </a:r>
          </a:p>
          <a:p>
            <a:pPr marL="320040" indent="-320040">
              <a:spcAft>
                <a:spcPts val="800"/>
              </a:spcAft>
              <a:buFont typeface="Arial"/>
              <a:buChar char="—  "/>
            </a:pPr>
            <a:r>
              <a:rPr sz="1550" b="1" dirty="0">
                <a:solidFill>
                  <a:srgbClr val="0B0B0B"/>
                </a:solidFill>
                <a:latin typeface="Segoe UI"/>
              </a:rPr>
              <a:t>Copilot Studio: </a:t>
            </a:r>
            <a:r>
              <a:rPr sz="1550" b="0" dirty="0">
                <a:solidFill>
                  <a:srgbClr val="52514E"/>
                </a:solidFill>
                <a:latin typeface="Segoe UI"/>
              </a:rPr>
              <a:t>can set this up over a linked SharePoint folder, semantically indexing up to 1,000 files automatically.</a:t>
            </a:r>
            <a:r>
              <a:rPr lang="nl-BE" sz="1550" b="0" dirty="0">
                <a:solidFill>
                  <a:srgbClr val="52514E"/>
                </a:solidFill>
                <a:latin typeface="Segoe UI"/>
              </a:rPr>
              <a:t> </a:t>
            </a:r>
            <a:endParaRPr sz="1550" b="0" dirty="0">
              <a:solidFill>
                <a:srgbClr val="52514E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Segoe UI"/>
              </a:rPr>
              <a:t>Levels of Using AI in 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7395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98781"/>
                </a:solidFill>
                <a:latin typeface="Segoe UI"/>
              </a:rPr>
              <a:t>7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838944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85832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332720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79608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826496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1073384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1320272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75904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898781"/>
                </a:solidFill>
                <a:latin typeface="Segoe UI"/>
              </a:rPr>
              <a:t>LEVEL 3 / 7</a:t>
            </a:r>
          </a:p>
        </p:txBody>
      </p:sp>
      <p:pic>
        <p:nvPicPr>
          <p:cNvPr id="24" name="Picture 23" descr="cris_title_shape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6519672"/>
            <a:ext cx="771579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border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3" y="76200"/>
            <a:ext cx="11826400" cy="66872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40080" y="256032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A78D6"/>
                </a:solidFill>
                <a:latin typeface="Segoe UI Semibold"/>
              </a:rPr>
              <a:t>LEVEL 4 · SKILLS &amp;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dirty="0">
                <a:solidFill>
                  <a:srgbClr val="0B0B0B"/>
                </a:solidFill>
                <a:latin typeface="Segoe UI Semibold"/>
              </a:rPr>
              <a:t>A skill</a:t>
            </a:r>
            <a:r>
              <a:rPr lang="nl-BE" sz="3000" b="1" dirty="0">
                <a:solidFill>
                  <a:srgbClr val="0B0B0B"/>
                </a:solidFill>
                <a:latin typeface="Segoe UI Semibold"/>
              </a:rPr>
              <a:t> + tools</a:t>
            </a:r>
            <a:r>
              <a:rPr sz="3000" b="1" dirty="0">
                <a:solidFill>
                  <a:srgbClr val="0B0B0B"/>
                </a:solidFill>
                <a:latin typeface="Segoe UI Semibold"/>
              </a:rPr>
              <a:t> turns </a:t>
            </a:r>
            <a:r>
              <a:rPr lang="nl-BE" sz="3000" b="1" dirty="0">
                <a:solidFill>
                  <a:srgbClr val="0B0B0B"/>
                </a:solidFill>
                <a:latin typeface="Segoe UI Semibold"/>
              </a:rPr>
              <a:t>a </a:t>
            </a:r>
            <a:r>
              <a:rPr lang="nl-BE" sz="3000" b="1" dirty="0" err="1">
                <a:solidFill>
                  <a:srgbClr val="0B0B0B"/>
                </a:solidFill>
                <a:latin typeface="Segoe UI Semibold"/>
              </a:rPr>
              <a:t>llm</a:t>
            </a:r>
            <a:r>
              <a:rPr sz="3000" b="1" dirty="0">
                <a:solidFill>
                  <a:srgbClr val="0B0B0B"/>
                </a:solidFill>
                <a:latin typeface="Segoe UI Semibold"/>
              </a:rPr>
              <a:t> into a specialist</a:t>
            </a:r>
            <a:r>
              <a:rPr lang="nl-BE" sz="3000" b="1" dirty="0">
                <a:solidFill>
                  <a:srgbClr val="0B0B0B"/>
                </a:solidFill>
                <a:latin typeface="Segoe UI Semibold"/>
              </a:rPr>
              <a:t> (agent)</a:t>
            </a:r>
            <a:endParaRPr sz="3000" b="1" dirty="0">
              <a:solidFill>
                <a:srgbClr val="0B0B0B"/>
              </a:solidFill>
              <a:latin typeface="Segoe UI Semibold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737360" y="1920240"/>
            <a:ext cx="8686800" cy="2103120"/>
          </a:xfrm>
          <a:prstGeom prst="roundRect">
            <a:avLst>
              <a:gd name="adj" fmla="val 6000"/>
            </a:avLst>
          </a:prstGeom>
          <a:solidFill>
            <a:srgbClr val="F0EFEC"/>
          </a:solidFill>
          <a:ln w="1905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79" y="20574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EB6834"/>
                </a:solidFill>
                <a:latin typeface="Segoe UI Semibold"/>
              </a:rPr>
              <a:t>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2468880"/>
            <a:ext cx="2377440" cy="1325880"/>
          </a:xfrm>
          <a:prstGeom prst="roundRect">
            <a:avLst>
              <a:gd name="adj" fmla="val 10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500" b="1">
                <a:solidFill>
                  <a:srgbClr val="0B0B0B"/>
                </a:solidFill>
                <a:latin typeface="Segoe UI Semibold"/>
              </a:rPr>
              <a:t>LLM</a:t>
            </a:r>
          </a:p>
          <a:p>
            <a:pPr algn="ctr"/>
            <a:r>
              <a:rPr sz="1100" b="0">
                <a:solidFill>
                  <a:srgbClr val="52514E"/>
                </a:solidFill>
                <a:latin typeface="Segoe UI"/>
              </a:rPr>
              <a:t>the brain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2468880"/>
            <a:ext cx="2377440" cy="1325880"/>
          </a:xfrm>
          <a:prstGeom prst="roundRect">
            <a:avLst>
              <a:gd name="adj" fmla="val 10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500" b="1">
                <a:solidFill>
                  <a:srgbClr val="0B0B0B"/>
                </a:solidFill>
                <a:latin typeface="Segoe UI Semibold"/>
              </a:rPr>
              <a:t>Tools</a:t>
            </a:r>
          </a:p>
          <a:p>
            <a:pPr algn="ctr"/>
            <a:r>
              <a:rPr sz="1100" b="0">
                <a:solidFill>
                  <a:srgbClr val="52514E"/>
                </a:solidFill>
                <a:latin typeface="Segoe UI"/>
              </a:rPr>
              <a:t>what it can 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2468880"/>
            <a:ext cx="2377440" cy="1325880"/>
          </a:xfrm>
          <a:prstGeom prst="roundRect">
            <a:avLst>
              <a:gd name="adj" fmla="val 10000"/>
            </a:avLst>
          </a:prstGeom>
          <a:solidFill>
            <a:srgbClr val="F9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500" b="1">
                <a:solidFill>
                  <a:srgbClr val="0B0B0B"/>
                </a:solidFill>
                <a:latin typeface="Segoe UI Semibold"/>
              </a:rPr>
              <a:t>Skill</a:t>
            </a:r>
          </a:p>
          <a:p>
            <a:pPr algn="ctr"/>
            <a:r>
              <a:rPr sz="1100" b="0">
                <a:solidFill>
                  <a:srgbClr val="52514E"/>
                </a:solidFill>
                <a:latin typeface="Segoe UI"/>
              </a:rPr>
              <a:t>a reusable
procedure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43400"/>
            <a:ext cx="10424160" cy="12926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20040" indent="-320040">
              <a:spcAft>
                <a:spcPts val="800"/>
              </a:spcAft>
              <a:buFont typeface="Arial"/>
              <a:buChar char="—  "/>
            </a:pPr>
            <a:r>
              <a:rPr sz="1600" b="1" dirty="0">
                <a:solidFill>
                  <a:srgbClr val="0B0B0B"/>
                </a:solidFill>
                <a:latin typeface="Segoe UI"/>
              </a:rPr>
              <a:t>A skill is a reusable procedure — </a:t>
            </a:r>
            <a:r>
              <a:rPr sz="1600" b="0" dirty="0">
                <a:solidFill>
                  <a:srgbClr val="52514E"/>
                </a:solidFill>
                <a:latin typeface="Segoe UI"/>
              </a:rPr>
              <a:t>instructions, written once, that it follows automatically when relevant.</a:t>
            </a:r>
            <a:endParaRPr lang="nl-BE" sz="1600" b="0" dirty="0">
              <a:solidFill>
                <a:srgbClr val="52514E"/>
              </a:solidFill>
              <a:latin typeface="Segoe UI"/>
            </a:endParaRPr>
          </a:p>
          <a:p>
            <a:pPr marL="320040" indent="-320040">
              <a:spcAft>
                <a:spcPts val="800"/>
              </a:spcAft>
              <a:buFont typeface="Arial"/>
              <a:buChar char="—  "/>
            </a:pPr>
            <a:r>
              <a:rPr lang="en-US" sz="1600" b="1" dirty="0">
                <a:solidFill>
                  <a:srgbClr val="0B0B0B"/>
                </a:solidFill>
                <a:latin typeface="Segoe UI"/>
              </a:rPr>
              <a:t>It doesn't replace the agent; it specializes it — </a:t>
            </a:r>
            <a:r>
              <a:rPr lang="en-US" sz="1600" b="0" dirty="0">
                <a:solidFill>
                  <a:srgbClr val="52514E"/>
                </a:solidFill>
                <a:latin typeface="Segoe UI"/>
              </a:rPr>
              <a:t>“turns a general-purpose agent into a specialist.”</a:t>
            </a:r>
          </a:p>
          <a:p>
            <a:pPr>
              <a:spcBef>
                <a:spcPts val="800"/>
              </a:spcBef>
            </a:pPr>
            <a:r>
              <a:rPr lang="nl-BE" sz="1600" b="1" dirty="0">
                <a:solidFill>
                  <a:srgbClr val="0B0B0B"/>
                </a:solidFill>
                <a:latin typeface="Segoe UI"/>
              </a:rPr>
              <a:t>Open standard</a:t>
            </a:r>
            <a:r>
              <a:rPr sz="1600" b="1" dirty="0">
                <a:solidFill>
                  <a:srgbClr val="0B0B0B"/>
                </a:solidFill>
                <a:latin typeface="Segoe UI"/>
              </a:rPr>
              <a:t>: </a:t>
            </a:r>
            <a:r>
              <a:rPr sz="1600" b="0" dirty="0">
                <a:solidFill>
                  <a:srgbClr val="52514E"/>
                </a:solidFill>
                <a:latin typeface="Segoe UI"/>
              </a:rPr>
              <a:t>since Dec 2025, SKILL.md is an open standard — the same skill file now works across Claude, ChatGPT, Codex CLI, Gemini, and Copilot.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Segoe UI"/>
              </a:rPr>
              <a:t>Levels of Using AI in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98781"/>
                </a:solidFill>
                <a:latin typeface="Segoe UI"/>
              </a:rPr>
              <a:t>8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838944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85832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332720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79608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826496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1073384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1320272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75904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898781"/>
                </a:solidFill>
                <a:latin typeface="Segoe UI"/>
              </a:rPr>
              <a:t>LEVEL 4 / 7</a:t>
            </a:r>
          </a:p>
        </p:txBody>
      </p:sp>
      <p:pic>
        <p:nvPicPr>
          <p:cNvPr id="22" name="Picture 21" descr="cris_title_shape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6519672"/>
            <a:ext cx="771579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border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3" y="76200"/>
            <a:ext cx="11826400" cy="66872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40080" y="256032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A78D6"/>
                </a:solidFill>
                <a:latin typeface="Segoe UI Semibold"/>
              </a:rPr>
              <a:t>LEVEL 4 · SKILL 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Segoe UI Semibold"/>
              </a:rPr>
              <a:t>Give it a memory: the “LLM wiki”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42416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dirty="0">
                <a:solidFill>
                  <a:srgbClr val="898781"/>
                </a:solidFill>
                <a:latin typeface="Segoe UI"/>
              </a:rPr>
              <a:t>A different way to retrieve knowledge: instead of re-searching raw documents on every question, the LLM compiles a persistent, growing wiki and keeps it current.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dirty="0">
                <a:solidFill>
                  <a:srgbClr val="2A78D6"/>
                </a:solidFill>
                <a:latin typeface="Segoe UI Semibold"/>
              </a:rPr>
              <a:t>THE </a:t>
            </a:r>
            <a:r>
              <a:rPr lang="nl-BE" sz="1200" b="1" dirty="0">
                <a:solidFill>
                  <a:srgbClr val="2A78D6"/>
                </a:solidFill>
                <a:latin typeface="Segoe UI Semibold"/>
              </a:rPr>
              <a:t>SKILL</a:t>
            </a:r>
            <a:endParaRPr sz="1200" b="1" dirty="0">
              <a:solidFill>
                <a:srgbClr val="2A78D6"/>
              </a:solidFill>
              <a:latin typeface="Segoe UI Semibol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5029200" cy="3657600"/>
          </a:xfrm>
          <a:prstGeom prst="roundRect">
            <a:avLst>
              <a:gd name="adj" fmla="val 4000"/>
            </a:avLst>
          </a:prstGeom>
          <a:solidFill>
            <a:srgbClr val="F0EFEC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just">
              <a:lnSpc>
                <a:spcPct val="110000"/>
              </a:lnSpc>
              <a:spcAft>
                <a:spcPts val="700"/>
              </a:spcAft>
            </a:pPr>
            <a:r>
              <a:rPr sz="1050" b="0" dirty="0">
                <a:solidFill>
                  <a:srgbClr val="0B0B0B"/>
                </a:solidFill>
                <a:latin typeface="Consolas"/>
              </a:rPr>
              <a:t>You maintain a persistent markdown wiki instead of answering straight from raw files — sources are read once, then compiled into pages that keep growing.</a:t>
            </a:r>
          </a:p>
          <a:p>
            <a:pPr algn="just">
              <a:lnSpc>
                <a:spcPct val="110000"/>
              </a:lnSpc>
              <a:spcAft>
                <a:spcPts val="700"/>
              </a:spcAft>
            </a:pPr>
            <a:r>
              <a:rPr sz="1050" b="0" dirty="0">
                <a:solidFill>
                  <a:srgbClr val="0B0B0B"/>
                </a:solidFill>
                <a:latin typeface="Consolas"/>
              </a:rPr>
              <a:t>Structure: raw/ (untouched sources) → wiki/ (the pages you maintain) → a schema file (e.g. CLAUDE.md) that tells you how to file, cross-reference, and answer.</a:t>
            </a:r>
          </a:p>
          <a:p>
            <a:pPr algn="just">
              <a:lnSpc>
                <a:spcPct val="110000"/>
              </a:lnSpc>
              <a:spcAft>
                <a:spcPts val="700"/>
              </a:spcAft>
            </a:pPr>
            <a:r>
              <a:rPr sz="1050" b="0" dirty="0">
                <a:solidFill>
                  <a:srgbClr val="0B0B0B"/>
                </a:solidFill>
                <a:latin typeface="Consolas"/>
              </a:rPr>
              <a:t>Ingest: when I add a new source, read it, then update the relevant wiki pages — entity pages, topic summaries, an index — and flag anything that contradicts what's already there.</a:t>
            </a:r>
          </a:p>
          <a:p>
            <a:pPr algn="just">
              <a:lnSpc>
                <a:spcPct val="110000"/>
              </a:lnSpc>
              <a:spcAft>
                <a:spcPts val="700"/>
              </a:spcAft>
            </a:pPr>
            <a:r>
              <a:rPr sz="1050" b="0" dirty="0">
                <a:solidFill>
                  <a:srgbClr val="0B0B0B"/>
                </a:solidFill>
                <a:latin typeface="Consolas"/>
              </a:rPr>
              <a:t>Query: when I ask a question, check the index first, then the pages it points to, and answer with what the wiki already knows — don't start from scratch.</a:t>
            </a:r>
          </a:p>
          <a:p>
            <a:pPr algn="just">
              <a:lnSpc>
                <a:spcPct val="110000"/>
              </a:lnSpc>
              <a:spcAft>
                <a:spcPts val="700"/>
              </a:spcAft>
            </a:pPr>
            <a:r>
              <a:rPr sz="1050" b="0" dirty="0">
                <a:solidFill>
                  <a:srgbClr val="0B0B0B"/>
                </a:solidFill>
                <a:latin typeface="Consolas"/>
              </a:rPr>
              <a:t>Lint: periodically health-check the wiki for orphan pages, stale claims, and missing cross-references.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965960"/>
            <a:ext cx="502919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A78D6"/>
                </a:solidFill>
                <a:latin typeface="Segoe UI Semibold"/>
              </a:rPr>
              <a:t>IN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Segoe UI"/>
              </a:rPr>
              <a:t>Levels of Using AI in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7395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98781"/>
                </a:solidFill>
                <a:latin typeface="Segoe UI"/>
              </a:rPr>
              <a:t>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838944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85832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332720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79608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826496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1073384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1320272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75904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898781"/>
                </a:solidFill>
                <a:latin typeface="Segoe UI"/>
              </a:rPr>
              <a:t>LEVEL 4 / 7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AC67BDB-77F7-9844-F77C-561263480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232" y="2340863"/>
            <a:ext cx="4771736" cy="3538729"/>
          </a:xfrm>
          <a:prstGeom prst="rect">
            <a:avLst/>
          </a:prstGeom>
        </p:spPr>
      </p:pic>
      <p:pic>
        <p:nvPicPr>
          <p:cNvPr id="23" name="Picture 22" descr="cris_title_shape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6519672"/>
            <a:ext cx="771579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border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3" y="76200"/>
            <a:ext cx="11826400" cy="66872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40080" y="256032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A78D6"/>
                </a:solidFill>
                <a:latin typeface="Segoe UI Semibold"/>
              </a:rPr>
              <a:t>LEVEL 4 · SKILL 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Segoe UI Semibold"/>
              </a:rPr>
              <a:t>“Grill me” on your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>
                <a:solidFill>
                  <a:srgbClr val="898781"/>
                </a:solidFill>
                <a:latin typeface="Segoe UI"/>
              </a:rPr>
              <a:t>Adapted from Matt Pocock's </a:t>
            </a:r>
            <a:r>
              <a:rPr sz="1300" b="0">
                <a:solidFill>
                  <a:srgbClr val="52514E"/>
                </a:solidFill>
                <a:latin typeface="Consolas"/>
              </a:rPr>
              <a:t>/grill-me</a:t>
            </a:r>
            <a:r>
              <a:rPr sz="1300" b="0">
                <a:solidFill>
                  <a:srgbClr val="898781"/>
                </a:solidFill>
                <a:latin typeface="Segoe UI"/>
              </a:rPr>
              <a:t> coding skill (74k+ GitHub stars) — same idea, aimed at a proposal instead of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dirty="0">
                <a:solidFill>
                  <a:srgbClr val="2A78D6"/>
                </a:solidFill>
                <a:latin typeface="Segoe UI Semibold"/>
              </a:rPr>
              <a:t>THE </a:t>
            </a:r>
            <a:r>
              <a:rPr lang="nl-BE" sz="1200" b="1" dirty="0">
                <a:solidFill>
                  <a:srgbClr val="2A78D6"/>
                </a:solidFill>
                <a:latin typeface="Segoe UI Semibold"/>
              </a:rPr>
              <a:t>SKILL</a:t>
            </a:r>
            <a:endParaRPr sz="1200" b="1" dirty="0">
              <a:solidFill>
                <a:srgbClr val="2A78D6"/>
              </a:solidFill>
              <a:latin typeface="Segoe UI Semibol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5029200" cy="3657600"/>
          </a:xfrm>
          <a:prstGeom prst="roundRect">
            <a:avLst>
              <a:gd name="adj" fmla="val 4000"/>
            </a:avLst>
          </a:prstGeom>
          <a:solidFill>
            <a:srgbClr val="F0EFEC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just">
              <a:lnSpc>
                <a:spcPct val="110000"/>
              </a:lnSpc>
              <a:spcAft>
                <a:spcPts val="700"/>
              </a:spcAft>
            </a:pPr>
            <a:r>
              <a:rPr sz="1050" b="0" dirty="0">
                <a:solidFill>
                  <a:srgbClr val="0B0B0B"/>
                </a:solidFill>
                <a:latin typeface="Consolas"/>
              </a:rPr>
              <a:t>You are a skeptical senior PI reviewing a colleague's research proposal — not helping write it, interrogating it.</a:t>
            </a:r>
          </a:p>
          <a:p>
            <a:pPr algn="just">
              <a:lnSpc>
                <a:spcPct val="110000"/>
              </a:lnSpc>
              <a:spcAft>
                <a:spcPts val="700"/>
              </a:spcAft>
            </a:pPr>
            <a:r>
              <a:rPr sz="1050" b="0" dirty="0">
                <a:solidFill>
                  <a:srgbClr val="0B0B0B"/>
                </a:solidFill>
                <a:latin typeface="Consolas"/>
              </a:rPr>
              <a:t>Ask one hard question at a time about the proposal pasted below</a:t>
            </a:r>
            <a:r>
              <a:rPr lang="nl-BE" sz="1050" b="0" dirty="0">
                <a:solidFill>
                  <a:srgbClr val="0B0B0B"/>
                </a:solidFill>
                <a:latin typeface="Consolas"/>
              </a:rPr>
              <a:t>/</a:t>
            </a:r>
            <a:r>
              <a:rPr lang="nl-BE" sz="1050" b="0" dirty="0" err="1">
                <a:solidFill>
                  <a:srgbClr val="0B0B0B"/>
                </a:solidFill>
                <a:latin typeface="Consolas"/>
              </a:rPr>
              <a:t>attached</a:t>
            </a:r>
            <a:r>
              <a:rPr sz="1050" b="0" dirty="0">
                <a:solidFill>
                  <a:srgbClr val="0B0B0B"/>
                </a:solidFill>
                <a:latin typeface="Consolas"/>
              </a:rPr>
              <a:t>. Focus on the core claim, why it's novel, what could make it fail, and whether the method actually tests the hypothesis.</a:t>
            </a:r>
          </a:p>
          <a:p>
            <a:pPr algn="just">
              <a:lnSpc>
                <a:spcPct val="110000"/>
              </a:lnSpc>
              <a:spcAft>
                <a:spcPts val="700"/>
              </a:spcAft>
            </a:pPr>
            <a:r>
              <a:rPr sz="1050" b="0" dirty="0">
                <a:solidFill>
                  <a:srgbClr val="0B0B0B"/>
                </a:solidFill>
                <a:latin typeface="Consolas"/>
              </a:rPr>
              <a:t>Don't move on until I've given a real answer — push back if it's vague.</a:t>
            </a:r>
          </a:p>
          <a:p>
            <a:pPr algn="just">
              <a:lnSpc>
                <a:spcPct val="110000"/>
              </a:lnSpc>
              <a:spcAft>
                <a:spcPts val="700"/>
              </a:spcAft>
            </a:pPr>
            <a:r>
              <a:rPr sz="1050" b="0" dirty="0">
                <a:solidFill>
                  <a:srgbClr val="0B0B0B"/>
                </a:solidFill>
                <a:latin typeface="Consolas"/>
              </a:rPr>
              <a:t>Stop after 8-10 questions, then summarize the 3 weakest points still unresolved.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965960"/>
            <a:ext cx="502919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A78D6"/>
                </a:solidFill>
                <a:latin typeface="Segoe UI Semibold"/>
              </a:rPr>
              <a:t>IN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Segoe UI"/>
              </a:rPr>
              <a:t>Levels of Using AI in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7395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98781"/>
                </a:solidFill>
                <a:latin typeface="Segoe UI"/>
              </a:rPr>
              <a:t>10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838944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85832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332720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79608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826496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1073384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1320272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75904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898781"/>
                </a:solidFill>
                <a:latin typeface="Segoe UI"/>
              </a:rPr>
              <a:t>LEVEL 4 / 7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A253642-2C18-0353-D670-34EDF4795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282" y="2340863"/>
            <a:ext cx="4642919" cy="3637027"/>
          </a:xfrm>
          <a:prstGeom prst="rect">
            <a:avLst/>
          </a:prstGeom>
        </p:spPr>
      </p:pic>
      <p:pic>
        <p:nvPicPr>
          <p:cNvPr id="23" name="Picture 22" descr="cris_title_shape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6519672"/>
            <a:ext cx="771579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border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3" y="76200"/>
            <a:ext cx="11826400" cy="66872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40080" y="256032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A78D6"/>
                </a:solidFill>
                <a:latin typeface="Segoe UI Semibold"/>
              </a:rPr>
              <a:t>LEVEL 4 · SKILL #3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Segoe UI Semibold"/>
              </a:rPr>
              <a:t>Teach it to stress-test a proposal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60" y="1202436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250" b="1">
                <a:solidFill>
                  <a:srgbClr val="0B0B0B"/>
                </a:solidFill>
                <a:latin typeface="Segoe UI Semibold"/>
              </a:rPr>
              <a:t>Specific assignment</a:t>
            </a:r>
          </a:p>
          <a:p>
            <a:pPr algn="ctr"/>
            <a:r>
              <a:rPr sz="950" b="0">
                <a:solidFill>
                  <a:srgbClr val="0B0B0B"/>
                </a:solidFill>
                <a:latin typeface="Segoe UI"/>
              </a:rPr>
              <a:t>the prompt, not a generic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60420" y="1545336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>
                <a:solidFill>
                  <a:srgbClr val="898781"/>
                </a:solidFill>
                <a:latin typeface="Segoe UI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55720" y="1202436"/>
            <a:ext cx="2319528" cy="1051560"/>
          </a:xfrm>
          <a:prstGeom prst="roundRect">
            <a:avLst>
              <a:gd name="adj" fmla="val 10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250" b="1">
                <a:solidFill>
                  <a:srgbClr val="0B0B0B"/>
                </a:solidFill>
                <a:latin typeface="Segoe UI Semibold"/>
              </a:rPr>
              <a:t>The trainee</a:t>
            </a:r>
          </a:p>
          <a:p>
            <a:pPr algn="ctr"/>
            <a:r>
              <a:rPr sz="950" b="0" i="1">
                <a:solidFill>
                  <a:srgbClr val="0B0B0B"/>
                </a:solidFill>
                <a:latin typeface="Segoe UI"/>
              </a:rPr>
              <a:t>(the LLM)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17179" y="1545336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>
                <a:solidFill>
                  <a:srgbClr val="898781"/>
                </a:solidFill>
                <a:latin typeface="Segoe U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8659" y="1202436"/>
            <a:ext cx="2766061" cy="1051560"/>
          </a:xfrm>
          <a:prstGeom prst="roundRect">
            <a:avLst>
              <a:gd name="adj" fmla="val 10000"/>
            </a:avLst>
          </a:prstGeom>
          <a:solidFill>
            <a:srgbClr val="F9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250" b="1">
                <a:solidFill>
                  <a:srgbClr val="0B0B0B"/>
                </a:solidFill>
                <a:latin typeface="Segoe UI Semibold"/>
              </a:rPr>
              <a:t>The response</a:t>
            </a:r>
          </a:p>
          <a:p>
            <a:pPr algn="ctr"/>
            <a:r>
              <a:rPr sz="950" b="0" i="1">
                <a:solidFill>
                  <a:srgbClr val="0B0B0B"/>
                </a:solidFill>
                <a:latin typeface="Segoe UI"/>
              </a:rPr>
              <a:t>a structured critique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0" dirty="0">
                <a:solidFill>
                  <a:srgbClr val="898781"/>
                </a:solidFill>
                <a:latin typeface="Segoe UI"/>
              </a:rPr>
              <a:t>Real prompts from Mads Lykke Berggreen — research adviser, VIA University College (Denmark), active in EARMA (European Association of Research Managers and Administrators)'s AI community: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5029200" cy="2514600"/>
          </a:xfrm>
          <a:prstGeom prst="roundRect">
            <a:avLst>
              <a:gd name="adj" fmla="val 4000"/>
            </a:avLst>
          </a:prstGeom>
          <a:solidFill>
            <a:srgbClr val="F0EFEC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050" b="0">
                <a:solidFill>
                  <a:srgbClr val="0B0B0B"/>
                </a:solidFill>
                <a:latin typeface="Consolas"/>
              </a:rPr>
              <a:t>Act as a strict Horizon Europe grant evaluator. Read the following draft section of my proposal.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050" b="0">
                <a:solidFill>
                  <a:srgbClr val="0B0B0B"/>
                </a:solidFill>
                <a:latin typeface="Consolas"/>
              </a:rPr>
              <a:t>Identify logical gaps, weak impact pathways, and unconvincing methodology claims.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050" b="0">
                <a:solidFill>
                  <a:srgbClr val="0B0B0B"/>
                </a:solidFill>
                <a:latin typeface="Consolas"/>
              </a:rPr>
              <a:t>Give me 3 concrete ways to make this argument sharper and more authentic.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9067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A78D6"/>
                </a:solidFill>
                <a:latin typeface="Segoe UI Semibold"/>
              </a:rPr>
              <a:t>THE CRITICAL REVIEWER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383280"/>
            <a:ext cx="5029200" cy="2514600"/>
          </a:xfrm>
          <a:prstGeom prst="roundRect">
            <a:avLst>
              <a:gd name="adj" fmla="val 4000"/>
            </a:avLst>
          </a:prstGeom>
          <a:solidFill>
            <a:srgbClr val="F0EFEC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050" b="0">
                <a:solidFill>
                  <a:srgbClr val="0B0B0B"/>
                </a:solidFill>
                <a:latin typeface="Consolas"/>
              </a:rPr>
              <a:t>Review this project concept text.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050" b="0">
                <a:solidFill>
                  <a:srgbClr val="0B0B0B"/>
                </a:solidFill>
                <a:latin typeface="Consolas"/>
              </a:rPr>
              <a:t>Highlight any invisible blind spots, lack of inclusivity, or underrepresented stakeholder perspectives that a human panel might penalize.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09067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A78D6"/>
                </a:solidFill>
                <a:latin typeface="Segoe UI Semibold"/>
              </a:rPr>
              <a:t>THE BIAS &amp; OMISSION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8076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0">
                <a:solidFill>
                  <a:srgbClr val="898781"/>
                </a:solidFill>
                <a:latin typeface="Segoe UI"/>
              </a:rPr>
              <a:t>Same pattern works with your own checklist — e.g. OBI's admissibility criteria.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Segoe UI"/>
              </a:rPr>
              <a:t>Levels of Using AI in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7395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98781"/>
                </a:solidFill>
                <a:latin typeface="Segoe UI"/>
              </a:rPr>
              <a:t>11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838944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085832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332720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79608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826496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1073384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1320272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75904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898781"/>
                </a:solidFill>
                <a:latin typeface="Segoe UI"/>
              </a:rPr>
              <a:t>LEVEL 4 / 7</a:t>
            </a:r>
          </a:p>
        </p:txBody>
      </p:sp>
      <p:sp>
        <p:nvSpPr>
          <p:cNvPr id="26" name="Rounded Rectangle 5"/>
          <p:cNvSpPr/>
          <p:nvPr/>
        </p:nvSpPr>
        <p:spPr>
          <a:xfrm>
            <a:off x="6416040" y="1202436"/>
            <a:ext cx="1417319" cy="1051560"/>
          </a:xfrm>
          <a:prstGeom prst="roundRect">
            <a:avLst>
              <a:gd name="adj" fmla="val 10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250" b="1" dirty="0">
                <a:solidFill>
                  <a:srgbClr val="0B0B0B"/>
                </a:solidFill>
                <a:latin typeface="Segoe UI Semibold"/>
              </a:rPr>
              <a:t>+ Search</a:t>
            </a:r>
          </a:p>
          <a:p>
            <a:pPr algn="ctr"/>
            <a:r>
              <a:rPr lang="nl-BE" sz="950" b="0" dirty="0">
                <a:solidFill>
                  <a:srgbClr val="0B0B0B"/>
                </a:solidFill>
                <a:latin typeface="Segoe UI"/>
              </a:rPr>
              <a:t>Knowledge base </a:t>
            </a:r>
            <a:r>
              <a:rPr lang="nl-BE" sz="950" b="0" dirty="0" err="1">
                <a:solidFill>
                  <a:srgbClr val="0B0B0B"/>
                </a:solidFill>
                <a:latin typeface="Segoe UI"/>
              </a:rPr>
              <a:t>containing</a:t>
            </a:r>
            <a:r>
              <a:rPr lang="nl-BE" sz="950" b="0" dirty="0">
                <a:solidFill>
                  <a:srgbClr val="0B0B0B"/>
                </a:solidFill>
                <a:latin typeface="Segoe UI"/>
              </a:rPr>
              <a:t> criteria</a:t>
            </a:r>
            <a:endParaRPr sz="950" b="0" dirty="0">
              <a:solidFill>
                <a:srgbClr val="0B0B0B"/>
              </a:solidFill>
              <a:latin typeface="Segoe UI"/>
            </a:endParaRPr>
          </a:p>
        </p:txBody>
      </p:sp>
      <p:pic>
        <p:nvPicPr>
          <p:cNvPr id="28" name="Picture 27" descr="cris_title_shape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6519672"/>
            <a:ext cx="771579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border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3" y="76200"/>
            <a:ext cx="11826400" cy="66872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40080" y="256032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A78D6"/>
                </a:solidFill>
                <a:latin typeface="Segoe UI Semibold"/>
              </a:rPr>
              <a:t>LEVEL 4 · MORE FROM THE 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Segoe UI Semibold"/>
              </a:rPr>
              <a:t>More prompts worth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69872"/>
            <a:ext cx="2440000" cy="2842216"/>
          </a:xfrm>
          <a:prstGeom prst="roundRect">
            <a:avLst>
              <a:gd name="adj" fmla="val 10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just"/>
            <a:r>
              <a:rPr sz="1200" b="0" dirty="0">
                <a:solidFill>
                  <a:srgbClr val="0B0B0B"/>
                </a:solidFill>
                <a:latin typeface="Consolas"/>
              </a:rPr>
              <a:t>Act as a collaborative team of EU funding advisors. Deconstruct this call text for [Insert Topic] and list the mandatory compliance hurdles, core Key Performance Indicators (KPIs), and strategic alignment requirements we must address in the work package.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92907" y="2369872"/>
            <a:ext cx="2440000" cy="2842216"/>
          </a:xfrm>
          <a:prstGeom prst="roundRect">
            <a:avLst>
              <a:gd name="adj" fmla="val 10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just"/>
            <a:r>
              <a:rPr sz="1200" b="0" dirty="0">
                <a:solidFill>
                  <a:srgbClr val="0B0B0B"/>
                </a:solidFill>
                <a:latin typeface="Consolas"/>
              </a:rPr>
              <a:t>Take this heavily jargon-filled project summary and rewrite it to retain technical accuracy while improving readability and engagement for a diverse evaluation 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54294" y="2369872"/>
            <a:ext cx="2440000" cy="2842216"/>
          </a:xfrm>
          <a:prstGeom prst="roundRect">
            <a:avLst>
              <a:gd name="adj" fmla="val 10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just"/>
            <a:r>
              <a:rPr sz="1200" b="0" dirty="0">
                <a:solidFill>
                  <a:srgbClr val="0B0B0B"/>
                </a:solidFill>
                <a:latin typeface="Consolas"/>
              </a:rPr>
              <a:t>Act as a research administration expert. Based on a process where pre-award grant writing is heavily automated, help me outline a strategic roadmap for our institutional support team to shift focus toward high-value human tasks like consortium building and impact strategy.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898781"/>
                </a:solidFill>
                <a:latin typeface="Segoe UI"/>
              </a:rPr>
              <a:t>First three: Mads Lykke Berggreen, EARMA AI community.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Segoe UI"/>
              </a:rPr>
              <a:t>Levels of Using AI in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98781"/>
                </a:solidFill>
                <a:latin typeface="Segoe UI"/>
              </a:rPr>
              <a:t>12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838944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85832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332720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79608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826496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1073384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1320272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75904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898781"/>
                </a:solidFill>
                <a:latin typeface="Segoe UI"/>
              </a:rPr>
              <a:t>LEVEL 4 /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519480"/>
            <a:ext cx="244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A78D6"/>
                </a:solidFill>
                <a:latin typeface="Segoe UI Semibold"/>
              </a:rPr>
              <a:t>DECONSTRUCT THE 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2907" y="1519480"/>
            <a:ext cx="244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A78D6"/>
                </a:solidFill>
                <a:latin typeface="Segoe UI Semibold"/>
              </a:rPr>
              <a:t>PLAIN-LANGUAGE POLISH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4294" y="1519480"/>
            <a:ext cx="244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A78D6"/>
                </a:solidFill>
                <a:latin typeface="Segoe UI Semibold"/>
              </a:rPr>
              <a:t>WORKFLOW AUDIT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8715681" y="1519480"/>
            <a:ext cx="244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A78D6"/>
                </a:solidFill>
                <a:latin typeface="Segoe UI Semibold"/>
              </a:rPr>
              <a:t>CONSISTENCY CHECK</a:t>
            </a:r>
          </a:p>
        </p:txBody>
      </p:sp>
      <p:sp>
        <p:nvSpPr>
          <p:cNvPr id="23" name="Rounded Rectangle 5"/>
          <p:cNvSpPr/>
          <p:nvPr/>
        </p:nvSpPr>
        <p:spPr>
          <a:xfrm>
            <a:off x="8715681" y="2369872"/>
            <a:ext cx="2440000" cy="2842216"/>
          </a:xfrm>
          <a:prstGeom prst="roundRect">
            <a:avLst>
              <a:gd name="adj" fmla="val 10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just"/>
            <a:r>
              <a:rPr sz="1200" b="0">
                <a:solidFill>
                  <a:srgbClr val="0B0B0B"/>
                </a:solidFill>
                <a:latin typeface="Consolas"/>
              </a:rPr>
              <a:t>Check this proposal for consistency: fonts and heading styles, table and figure numbering and captions, and section numbering. Then check every reference against [insert citation style, e.g. APA / Vancouver / IEEE] and flag any that don't match — offer to convert the whole list to [insert target style] if I ask.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1839520"/>
            <a:ext cx="207923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/>
            <a:r>
              <a:rPr sz="1100" b="1" dirty="0">
                <a:solidFill>
                  <a:srgbClr val="0B0B0B"/>
                </a:solidFill>
                <a:latin typeface="Segoe UI"/>
              </a:rPr>
              <a:t>Goal: </a:t>
            </a:r>
            <a:r>
              <a:rPr sz="1100" b="0" dirty="0">
                <a:solidFill>
                  <a:srgbClr val="52514E"/>
                </a:solidFill>
                <a:latin typeface="Segoe UI"/>
              </a:rPr>
              <a:t>Turns a call text into a compliance &amp; KPI checklist.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92907" y="1848663"/>
            <a:ext cx="2250511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dirty="0">
                <a:solidFill>
                  <a:srgbClr val="0B0B0B"/>
                </a:solidFill>
                <a:latin typeface="Segoe UI"/>
              </a:rPr>
              <a:t>Goal: </a:t>
            </a:r>
            <a:r>
              <a:rPr sz="1100" b="0" dirty="0">
                <a:solidFill>
                  <a:srgbClr val="52514E"/>
                </a:solidFill>
                <a:latin typeface="Segoe UI"/>
              </a:rPr>
              <a:t>Rewrites jargon so any evaluator can follow 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1839520"/>
            <a:ext cx="2295144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/>
            <a:r>
              <a:rPr sz="1100" b="1" dirty="0">
                <a:solidFill>
                  <a:srgbClr val="0B0B0B"/>
                </a:solidFill>
                <a:latin typeface="Segoe UI"/>
              </a:rPr>
              <a:t>Goal: </a:t>
            </a:r>
            <a:r>
              <a:rPr sz="1100" b="0" dirty="0">
                <a:solidFill>
                  <a:srgbClr val="52514E"/>
                </a:solidFill>
                <a:latin typeface="Segoe UI"/>
              </a:rPr>
              <a:t>Shows where automation frees up staff time.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5681" y="1839520"/>
            <a:ext cx="2357703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/>
            <a:r>
              <a:rPr sz="1100" b="1" dirty="0">
                <a:solidFill>
                  <a:srgbClr val="0B0B0B"/>
                </a:solidFill>
                <a:latin typeface="Segoe UI"/>
              </a:rPr>
              <a:t>Goal: </a:t>
            </a:r>
            <a:r>
              <a:rPr sz="1100" b="0" dirty="0">
                <a:solidFill>
                  <a:srgbClr val="52514E"/>
                </a:solidFill>
                <a:latin typeface="Segoe UI"/>
              </a:rPr>
              <a:t>Catches formatting and citation-style mismatches.</a:t>
            </a:r>
          </a:p>
        </p:txBody>
      </p:sp>
      <p:pic>
        <p:nvPicPr>
          <p:cNvPr id="29" name="Picture 28" descr="cris_title_shape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6519672"/>
            <a:ext cx="771579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border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3" y="76200"/>
            <a:ext cx="11826400" cy="66872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40080" y="256032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A78D6"/>
                </a:solidFill>
                <a:latin typeface="Segoe UI Semibold"/>
              </a:rPr>
              <a:t>LEVEL 5 · MULTIPLE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Segoe UI Semibold"/>
              </a:rPr>
              <a:t>One model writes, another reviews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560320"/>
            <a:ext cx="3063240" cy="1554480"/>
          </a:xfrm>
          <a:prstGeom prst="roundRect">
            <a:avLst>
              <a:gd name="adj" fmla="val 10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600" b="1">
                <a:solidFill>
                  <a:srgbClr val="0B0B0B"/>
                </a:solidFill>
                <a:latin typeface="Segoe UI Semibold"/>
              </a:rPr>
              <a:t>Model A</a:t>
            </a:r>
          </a:p>
          <a:p>
            <a:pPr algn="ctr"/>
            <a:r>
              <a:rPr sz="1200" b="0" i="1">
                <a:solidFill>
                  <a:srgbClr val="0B0B0B"/>
                </a:solidFill>
                <a:latin typeface="Segoe UI"/>
              </a:rPr>
              <a:t>drafts the proposal
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86200" y="3154679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>
                <a:solidFill>
                  <a:srgbClr val="898781"/>
                </a:solidFill>
                <a:latin typeface="Segoe UI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560320"/>
            <a:ext cx="3063240" cy="1554480"/>
          </a:xfrm>
          <a:prstGeom prst="roundRect">
            <a:avLst>
              <a:gd name="adj" fmla="val 10000"/>
            </a:avLst>
          </a:prstGeom>
          <a:solidFill>
            <a:srgbClr val="F9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600" b="1">
                <a:solidFill>
                  <a:srgbClr val="0B0B0B"/>
                </a:solidFill>
                <a:latin typeface="Segoe UI Semibold"/>
              </a:rPr>
              <a:t>Model B</a:t>
            </a:r>
          </a:p>
          <a:p>
            <a:pPr algn="ctr"/>
            <a:r>
              <a:rPr sz="1200" b="0" i="1">
                <a:solidFill>
                  <a:srgbClr val="0B0B0B"/>
                </a:solidFill>
                <a:latin typeface="Segoe UI"/>
              </a:rPr>
              <a:t>critiques it,
independently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3154679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>
                <a:solidFill>
                  <a:srgbClr val="898781"/>
                </a:solidFill>
                <a:latin typeface="Segoe U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560320"/>
            <a:ext cx="3063240" cy="1554480"/>
          </a:xfrm>
          <a:prstGeom prst="roundRect">
            <a:avLst>
              <a:gd name="adj" fmla="val 1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 Semibold"/>
              </a:rPr>
              <a:t>Revised draft</a:t>
            </a:r>
          </a:p>
          <a:p>
            <a:pPr algn="ctr"/>
            <a:r>
              <a:rPr sz="1200" b="0" i="1">
                <a:solidFill>
                  <a:srgbClr val="FFFFFF"/>
                </a:solidFill>
                <a:latin typeface="Segoe UI"/>
              </a:rPr>
              <a:t>stronger for having
survived a second opinion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4241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20040" indent="-320040">
              <a:spcAft>
                <a:spcPts val="1400"/>
              </a:spcAft>
              <a:buFont typeface="Arial"/>
              <a:buChar char="—  "/>
            </a:pPr>
            <a:r>
              <a:rPr sz="1800" b="1">
                <a:solidFill>
                  <a:srgbClr val="0B0B0B"/>
                </a:solidFill>
                <a:latin typeface="Segoe UI"/>
              </a:rPr>
              <a:t>Different vendors, different blind spots — </a:t>
            </a:r>
            <a:r>
              <a:rPr sz="1800" b="0">
                <a:solidFill>
                  <a:srgbClr val="52514E"/>
                </a:solidFill>
                <a:latin typeface="Segoe UI"/>
              </a:rPr>
              <a:t>a second opinion catches what the first model's own bias would miss.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Segoe UI"/>
              </a:rPr>
              <a:t>Levels of Using AI in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98781"/>
                </a:solidFill>
                <a:latin typeface="Segoe UI"/>
              </a:rPr>
              <a:t>13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838944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85832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332720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79608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826496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1073384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1320272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75904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898781"/>
                </a:solidFill>
                <a:latin typeface="Segoe UI"/>
              </a:rPr>
              <a:t>LEVEL 5 / 7</a:t>
            </a:r>
          </a:p>
        </p:txBody>
      </p:sp>
      <p:pic>
        <p:nvPicPr>
          <p:cNvPr id="22" name="Picture 21" descr="cris_title_shape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6519672"/>
            <a:ext cx="771579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border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3" y="76200"/>
            <a:ext cx="11826400" cy="66872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40080" y="256032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A78D6"/>
                </a:solidFill>
                <a:latin typeface="Segoe UI Semibold"/>
              </a:rPr>
              <a:t>LEVEL 6 ·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nl-BE" sz="3000" b="1" dirty="0">
                <a:solidFill>
                  <a:srgbClr val="0B0B0B"/>
                </a:solidFill>
                <a:latin typeface="Segoe UI Semibold"/>
              </a:rPr>
              <a:t>A</a:t>
            </a:r>
            <a:r>
              <a:rPr sz="3000" b="1" dirty="0">
                <a:solidFill>
                  <a:srgbClr val="0B0B0B"/>
                </a:solidFill>
                <a:latin typeface="Segoe UI Semibold"/>
              </a:rPr>
              <a:t>gent</a:t>
            </a:r>
            <a:r>
              <a:rPr lang="nl-BE" sz="3000" b="1" dirty="0">
                <a:solidFill>
                  <a:srgbClr val="0B0B0B"/>
                </a:solidFill>
                <a:latin typeface="Segoe UI Semibold"/>
              </a:rPr>
              <a:t>(s)</a:t>
            </a:r>
            <a:r>
              <a:rPr sz="3000" b="1" dirty="0">
                <a:solidFill>
                  <a:srgbClr val="0B0B0B"/>
                </a:solidFill>
                <a:latin typeface="Segoe UI Semibold"/>
              </a:rPr>
              <a:t> looping, or several working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91558"/>
            <a:ext cx="475488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dirty="0">
                <a:solidFill>
                  <a:srgbClr val="0B0B0B"/>
                </a:solidFill>
                <a:latin typeface="Segoe UI Semibold"/>
              </a:rPr>
              <a:t>One</a:t>
            </a:r>
            <a:r>
              <a:rPr lang="nl-BE" sz="1600" b="1" dirty="0">
                <a:solidFill>
                  <a:srgbClr val="0B0B0B"/>
                </a:solidFill>
                <a:latin typeface="Segoe UI Semibold"/>
              </a:rPr>
              <a:t>/multiple</a:t>
            </a:r>
            <a:r>
              <a:rPr sz="1600" b="1" dirty="0">
                <a:solidFill>
                  <a:srgbClr val="0B0B0B"/>
                </a:solidFill>
                <a:latin typeface="Segoe UI Semibold"/>
              </a:rPr>
              <a:t> agent, self-loop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2541366"/>
            <a:ext cx="2743200" cy="1188720"/>
          </a:xfrm>
          <a:prstGeom prst="roundRect">
            <a:avLst>
              <a:gd name="adj" fmla="val 10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400" b="1">
                <a:solidFill>
                  <a:srgbClr val="0B0B0B"/>
                </a:solidFill>
                <a:latin typeface="Segoe UI Semibold"/>
              </a:rPr>
              <a:t>Draft → Review → Revise</a:t>
            </a:r>
          </a:p>
        </p:txBody>
      </p:sp>
      <p:sp>
        <p:nvSpPr>
          <p:cNvPr id="6" name="Circular Arrow 5"/>
          <p:cNvSpPr/>
          <p:nvPr/>
        </p:nvSpPr>
        <p:spPr>
          <a:xfrm rot="5400000">
            <a:off x="3954780" y="2052163"/>
            <a:ext cx="868680" cy="86868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5151147"/>
              <a:gd name="adj5" fmla="val 12500"/>
            </a:avLst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912966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0">
                <a:solidFill>
                  <a:srgbClr val="898781"/>
                </a:solidFill>
                <a:latin typeface="Segoe UI"/>
              </a:rPr>
              <a:t>repeats until the exit condition is met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92225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0B0B0B"/>
                </a:solidFill>
                <a:latin typeface="Segoe UI Semibold"/>
              </a:rPr>
              <a:t>Multiple agents, specialised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2295145"/>
            <a:ext cx="1828800" cy="685800"/>
          </a:xfrm>
          <a:prstGeom prst="roundRect">
            <a:avLst>
              <a:gd name="adj" fmla="val 1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Orchestrator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7269479" y="2980945"/>
            <a:ext cx="1600201" cy="502919"/>
          </a:xfrm>
          <a:prstGeom prst="line">
            <a:avLst/>
          </a:prstGeom>
          <a:ln w="1587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583679" y="3483864"/>
            <a:ext cx="1371600" cy="685800"/>
          </a:xfrm>
          <a:prstGeom prst="roundRect">
            <a:avLst>
              <a:gd name="adj" fmla="val 10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200" b="1">
                <a:solidFill>
                  <a:srgbClr val="0B0B0B"/>
                </a:solidFill>
                <a:latin typeface="Segoe UI Semibold"/>
              </a:rPr>
              <a:t>Writer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869680" y="2980945"/>
            <a:ext cx="0" cy="502919"/>
          </a:xfrm>
          <a:prstGeom prst="line">
            <a:avLst/>
          </a:prstGeom>
          <a:ln w="1587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183879" y="3483864"/>
            <a:ext cx="1371600" cy="685800"/>
          </a:xfrm>
          <a:prstGeom prst="roundRect">
            <a:avLst>
              <a:gd name="adj" fmla="val 10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200" b="1">
                <a:solidFill>
                  <a:srgbClr val="0B0B0B"/>
                </a:solidFill>
                <a:latin typeface="Segoe UI Semibold"/>
              </a:rPr>
              <a:t>Reviewer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869680" y="2980945"/>
            <a:ext cx="1600200" cy="502919"/>
          </a:xfrm>
          <a:prstGeom prst="line">
            <a:avLst/>
          </a:prstGeom>
          <a:ln w="1587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784080" y="3483864"/>
            <a:ext cx="1371600" cy="685800"/>
          </a:xfrm>
          <a:prstGeom prst="roundRect">
            <a:avLst>
              <a:gd name="adj" fmla="val 10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200" b="1">
                <a:solidFill>
                  <a:srgbClr val="0B0B0B"/>
                </a:solidFill>
                <a:latin typeface="Segoe UI Semibold"/>
              </a:rPr>
              <a:t>Fact-checker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0000"/>
            <a:ext cx="10424160" cy="15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20040" indent="-320040">
              <a:spcAft>
                <a:spcPts val="600"/>
              </a:spcAft>
              <a:buFont typeface="Arial"/>
              <a:buChar char="—  "/>
            </a:pPr>
            <a:r>
              <a:rPr sz="1500" b="1">
                <a:solidFill>
                  <a:srgbClr val="0B0B0B"/>
                </a:solidFill>
                <a:latin typeface="Segoe UI"/>
              </a:rPr>
              <a:t>Multiple, not just one: </a:t>
            </a:r>
            <a:r>
              <a:rPr sz="1500" b="0">
                <a:solidFill>
                  <a:srgbClr val="52514E"/>
                </a:solidFill>
                <a:latin typeface="Segoe UI"/>
              </a:rPr>
              <a:t>brief several reviewer agents with different expertise (methodology, ethics, funder priorities) and let them debate the same draft in the loop.</a:t>
            </a:r>
          </a:p>
          <a:p>
            <a:pPr marL="320040" indent="-320040">
              <a:spcAft>
                <a:spcPts val="600"/>
              </a:spcAft>
              <a:buFont typeface="Arial"/>
              <a:buChar char="—  "/>
            </a:pPr>
            <a:r>
              <a:rPr sz="1500" b="1">
                <a:solidFill>
                  <a:srgbClr val="0B0B0B"/>
                </a:solidFill>
                <a:latin typeface="Segoe UI"/>
              </a:rPr>
              <a:t>Fully unattended: </a:t>
            </a:r>
            <a:r>
              <a:rPr sz="1500" b="0">
                <a:solidFill>
                  <a:srgbClr val="52514E"/>
                </a:solidFill>
                <a:latin typeface="Segoe UI"/>
              </a:rPr>
              <a:t>a scheduled job (e.g. a cron job) can run the whole loop with no human until it's done.</a:t>
            </a:r>
          </a:p>
          <a:p>
            <a:pPr marL="320040" indent="-320040">
              <a:spcAft>
                <a:spcPts val="600"/>
              </a:spcAft>
              <a:buFont typeface="Arial"/>
              <a:buChar char="—  "/>
            </a:pPr>
            <a:r>
              <a:rPr sz="1500" b="1">
                <a:solidFill>
                  <a:srgbClr val="0B0B0B"/>
                </a:solidFill>
                <a:latin typeface="Segoe UI"/>
              </a:rPr>
              <a:t>Either way, a human sets the exit condition — </a:t>
            </a:r>
            <a:r>
              <a:rPr sz="1500" b="0">
                <a:solidFill>
                  <a:srgbClr val="52514E"/>
                </a:solidFill>
                <a:latin typeface="Segoe UI"/>
              </a:rPr>
              <a:t>automation compounds small errors just as fast as small improvements.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Segoe UI"/>
              </a:rPr>
              <a:t>Levels of Using AI in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7395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98781"/>
                </a:solidFill>
                <a:latin typeface="Segoe UI"/>
              </a:rPr>
              <a:t>14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838944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085832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332720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79608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826496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1073384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1320272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75904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898781"/>
                </a:solidFill>
                <a:latin typeface="Segoe UI"/>
              </a:rPr>
              <a:t>LEVEL 6 / 7</a:t>
            </a:r>
          </a:p>
        </p:txBody>
      </p:sp>
      <p:pic>
        <p:nvPicPr>
          <p:cNvPr id="29" name="Picture 28" descr="cris_title_shape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6519672"/>
            <a:ext cx="771579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border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3" y="76200"/>
            <a:ext cx="11826400" cy="66872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40080" y="256032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A78D6"/>
                </a:solidFill>
                <a:latin typeface="Segoe UI Semibold"/>
              </a:rPr>
              <a:t>LEVEL 7 · FULL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Segoe UI Semibold"/>
              </a:rPr>
              <a:t>Some models you can run yourself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77440"/>
            <a:ext cx="4937760" cy="2011680"/>
          </a:xfrm>
          <a:prstGeom prst="roundRect">
            <a:avLst>
              <a:gd name="adj" fmla="val 10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600" b="1">
                <a:solidFill>
                  <a:srgbClr val="0B0B0B"/>
                </a:solidFill>
                <a:latin typeface="Segoe UI Semibold"/>
              </a:rPr>
              <a:t>Cloud (frontier models)</a:t>
            </a:r>
          </a:p>
          <a:p>
            <a:pPr algn="ctr"/>
            <a:r>
              <a:rPr sz="1250" b="0">
                <a:solidFill>
                  <a:srgbClr val="52514E"/>
                </a:solidFill>
                <a:latin typeface="Segoe UI"/>
              </a:rPr>
              <a:t>Best all-round quality, zero setup.
Your data leaves your machine.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2377440"/>
            <a:ext cx="4937760" cy="2011680"/>
          </a:xfrm>
          <a:prstGeom prst="roundRect">
            <a:avLst>
              <a:gd name="adj" fmla="val 10000"/>
            </a:avLst>
          </a:prstGeom>
          <a:solidFill>
            <a:srgbClr val="F9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600" b="1">
                <a:solidFill>
                  <a:srgbClr val="0B0B0B"/>
                </a:solidFill>
                <a:latin typeface="Segoe UI Semibold"/>
              </a:rPr>
              <a:t>Local (open-source models)</a:t>
            </a:r>
          </a:p>
          <a:p>
            <a:pPr algn="ctr"/>
            <a:r>
              <a:rPr sz="1200" b="0">
                <a:solidFill>
                  <a:srgbClr val="52514E"/>
                </a:solidFill>
                <a:latin typeface="Segoe UI"/>
              </a:rPr>
              <a:t>Runs on a capable personal workstation —
data never leaves it. Improving fast, and
some specialised models now rival the
frontier on focused tasks.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315468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898781"/>
                </a:solidFill>
                <a:latin typeface="Segoe UI Semibold"/>
              </a:rPr>
              <a:t>vs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Segoe UI"/>
              </a:rPr>
              <a:t>Levels of Using AI in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98781"/>
                </a:solidFill>
                <a:latin typeface="Segoe UI"/>
              </a:rPr>
              <a:t>15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838944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85832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332720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79608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826496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1073384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1320272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75904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898781"/>
                </a:solidFill>
                <a:latin typeface="Segoe UI"/>
              </a:rPr>
              <a:t>LEVEL 7 / 7</a:t>
            </a:r>
          </a:p>
        </p:txBody>
      </p:sp>
      <p:pic>
        <p:nvPicPr>
          <p:cNvPr id="20" name="Picture 19" descr="cris_title_shape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6519672"/>
            <a:ext cx="771579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border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3" y="76200"/>
            <a:ext cx="11826400" cy="66872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40080" y="256032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A78D6"/>
                </a:solidFill>
                <a:latin typeface="Segoe UI Semibold"/>
              </a:rPr>
              <a:t>WRAPPING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Segoe UI Semibold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00000"/>
            <a:ext cx="10424160" cy="3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20040" indent="-320040">
              <a:spcAft>
                <a:spcPts val="1400"/>
              </a:spcAft>
              <a:buFont typeface="Arial"/>
              <a:buChar char="—  "/>
            </a:pPr>
            <a:r>
              <a:rPr sz="1600" b="1" dirty="0">
                <a:solidFill>
                  <a:srgbClr val="0B0B0B"/>
                </a:solidFill>
                <a:latin typeface="Segoe UI"/>
              </a:rPr>
              <a:t>Every level narrows the same gap: </a:t>
            </a:r>
            <a:r>
              <a:rPr sz="1600" b="0" dirty="0">
                <a:solidFill>
                  <a:srgbClr val="52514E"/>
                </a:solidFill>
                <a:latin typeface="Segoe UI"/>
              </a:rPr>
              <a:t>average to excellent — sometimes with context, sometimes with a skill, a second model, or a loop.</a:t>
            </a:r>
          </a:p>
          <a:p>
            <a:pPr marL="320040" indent="-320040">
              <a:spcAft>
                <a:spcPts val="1400"/>
              </a:spcAft>
              <a:buFont typeface="Arial"/>
              <a:buChar char="—  "/>
            </a:pPr>
            <a:r>
              <a:rPr sz="1600" b="1" dirty="0">
                <a:solidFill>
                  <a:srgbClr val="0B0B0B"/>
                </a:solidFill>
                <a:latin typeface="Segoe UI"/>
              </a:rPr>
              <a:t>Most people quit at Level 1's disappointing first impression — </a:t>
            </a:r>
            <a:r>
              <a:rPr sz="1600" b="0" dirty="0">
                <a:solidFill>
                  <a:srgbClr val="52514E"/>
                </a:solidFill>
                <a:latin typeface="Segoe UI"/>
              </a:rPr>
              <a:t>Levels 2 and 3 alone already change the experience.</a:t>
            </a:r>
          </a:p>
          <a:p>
            <a:pPr marL="320040" indent="-320040">
              <a:spcAft>
                <a:spcPts val="1400"/>
              </a:spcAft>
              <a:buFont typeface="Arial"/>
              <a:buChar char="—  "/>
            </a:pPr>
            <a:r>
              <a:rPr sz="1600" b="1" dirty="0">
                <a:solidFill>
                  <a:srgbClr val="0B0B0B"/>
                </a:solidFill>
                <a:latin typeface="Segoe UI"/>
              </a:rPr>
              <a:t>Levels 4 to 6 are where research teams start actually delegating: </a:t>
            </a:r>
            <a:r>
              <a:rPr sz="1600" b="0" dirty="0">
                <a:solidFill>
                  <a:srgbClr val="52514E"/>
                </a:solidFill>
                <a:latin typeface="Segoe UI"/>
              </a:rPr>
              <a:t>skills, second opinions, review loops.</a:t>
            </a:r>
          </a:p>
          <a:p>
            <a:pPr marL="320040" indent="-320040">
              <a:spcAft>
                <a:spcPts val="1400"/>
              </a:spcAft>
              <a:buFont typeface="Arial"/>
              <a:buChar char="—  "/>
            </a:pPr>
            <a:r>
              <a:rPr sz="1600" b="1" dirty="0">
                <a:solidFill>
                  <a:srgbClr val="0B0B0B"/>
                </a:solidFill>
                <a:latin typeface="Segoe UI"/>
              </a:rPr>
              <a:t>Level 7 is optional — </a:t>
            </a:r>
            <a:r>
              <a:rPr sz="1600" b="0" dirty="0">
                <a:solidFill>
                  <a:srgbClr val="52514E"/>
                </a:solidFill>
                <a:latin typeface="Segoe UI"/>
              </a:rPr>
              <a:t>interesting, but not where most of the value is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Segoe UI"/>
              </a:rPr>
              <a:t>Levels of Using AI in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98781"/>
                </a:solidFill>
                <a:latin typeface="Segoe UI"/>
              </a:rPr>
              <a:t>16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9838944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85832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332720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79608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826496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073384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1320272" y="6583680"/>
            <a:ext cx="201168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75904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898781"/>
                </a:solidFill>
                <a:latin typeface="Segoe UI"/>
              </a:rPr>
              <a:t>LEVEL 7 / 7</a:t>
            </a:r>
          </a:p>
        </p:txBody>
      </p:sp>
      <p:sp>
        <p:nvSpPr>
          <p:cNvPr id="16" name="Rounded Rectangle 10"/>
          <p:cNvSpPr/>
          <p:nvPr/>
        </p:nvSpPr>
        <p:spPr>
          <a:xfrm>
            <a:off x="731520" y="4572000"/>
            <a:ext cx="10424160" cy="1234440"/>
          </a:xfrm>
          <a:prstGeom prst="roundRect">
            <a:avLst>
              <a:gd name="adj" fmla="val 8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bIns="109728" rtlCol="0" anchor="ctr"/>
          <a:lstStyle/>
          <a:p>
            <a:pPr algn="l"/>
            <a:r>
              <a:rPr sz="1500" b="1">
                <a:solidFill>
                  <a:srgbClr val="0B0B0B"/>
                </a:solidFill>
                <a:latin typeface="Segoe UI"/>
              </a:rPr>
              <a:t>It's a tool, not a replacement: </a:t>
            </a:r>
            <a:r>
              <a:rPr sz="1500" b="0">
                <a:solidFill>
                  <a:srgbClr val="52514E"/>
                </a:solidFill>
                <a:latin typeface="Segoe UI"/>
              </a:rPr>
              <a:t>it sharpens the work and buys back your time — the insight, and the credit, stay with the researcher. </a:t>
            </a:r>
            <a:r>
              <a:rPr sz="1500" b="1">
                <a:solidFill>
                  <a:srgbClr val="0B0B0B"/>
                </a:solidFill>
                <a:latin typeface="Segoe UI"/>
              </a:rPr>
              <a:t>Stay critical: </a:t>
            </a:r>
            <a:r>
              <a:rPr sz="1500" b="0">
                <a:solidFill>
                  <a:srgbClr val="52514E"/>
                </a:solidFill>
                <a:latin typeface="Segoe UI"/>
              </a:rPr>
              <a:t>when in doubt, ask it to explain itself and back its claims with sources.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987741"/>
            <a:ext cx="104241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dirty="0">
                <a:solidFill>
                  <a:srgbClr val="0B0B0B"/>
                </a:solidFill>
                <a:latin typeface="Segoe UI"/>
              </a:rPr>
              <a:t>Handling sensitive proposal data? </a:t>
            </a:r>
            <a:r>
              <a:rPr sz="1200" b="0" dirty="0">
                <a:solidFill>
                  <a:srgbClr val="52514E"/>
                </a:solidFill>
                <a:latin typeface="Segoe UI"/>
              </a:rPr>
              <a:t>Check </a:t>
            </a:r>
            <a:r>
              <a:rPr sz="1200" b="0" u="sng" dirty="0" err="1">
                <a:solidFill>
                  <a:srgbClr val="2A78D6"/>
                </a:solidFill>
                <a:latin typeface="Segoe UI"/>
                <a:hlinkClick r:id="rId3"/>
              </a:rPr>
              <a:t>UHasselt's</a:t>
            </a:r>
            <a:r>
              <a:rPr sz="1200" b="0" u="sng" dirty="0">
                <a:solidFill>
                  <a:srgbClr val="2A78D6"/>
                </a:solidFill>
                <a:latin typeface="Segoe UI"/>
                <a:hlinkClick r:id="rId3"/>
              </a:rPr>
              <a:t> AI-tools guidance</a:t>
            </a:r>
            <a:r>
              <a:rPr sz="1200" b="0" dirty="0">
                <a:solidFill>
                  <a:srgbClr val="52514E"/>
                </a:solidFill>
                <a:latin typeface="Segoe UI"/>
              </a:rPr>
              <a:t> before you paste anything into a tool.</a:t>
            </a:r>
          </a:p>
        </p:txBody>
      </p:sp>
      <p:pic>
        <p:nvPicPr>
          <p:cNvPr id="19" name="Picture 18" descr="cris_title_shape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6519672"/>
            <a:ext cx="771579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order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3" y="76200"/>
            <a:ext cx="11826400" cy="66872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40080" y="256032"/>
            <a:ext cx="9601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2A78D6"/>
                </a:solidFill>
                <a:latin typeface="Segoe UI Semibold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Segoe UI Semibold"/>
              </a:rPr>
              <a:t>Is Copilot trustworthy with our data?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00784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320040">
              <a:spcAft>
                <a:spcPts val="1400"/>
              </a:spcAft>
              <a:buFont typeface="Arial"/>
              <a:buChar char="—  "/>
            </a:pPr>
            <a:r>
              <a:rPr sz="1600" b="1">
                <a:solidFill>
                  <a:srgbClr val="0B0B0B"/>
                </a:solidFill>
                <a:latin typeface="Segoe UI"/>
              </a:rPr>
              <a:t>SURF's DPIA on Microsoft 365 Copilot: </a:t>
            </a:r>
            <a:r>
              <a:rPr sz="1600" b="0">
                <a:solidFill>
                  <a:srgbClr val="52514E"/>
                </a:solidFill>
                <a:latin typeface="Segoe UI"/>
              </a:rPr>
              <a:t>4 high risks flagged in 2024 ('red') → down to 2 medium risks in 2025 ('orange'). Real, measured improvement — not a finished picture.</a:t>
            </a:r>
          </a:p>
          <a:p>
            <a:pPr marL="320040" indent="-320040">
              <a:spcAft>
                <a:spcPts val="1400"/>
              </a:spcAft>
              <a:buFont typeface="Arial"/>
              <a:buChar char="—  "/>
            </a:pPr>
            <a:r>
              <a:rPr sz="1600" b="1">
                <a:solidFill>
                  <a:srgbClr val="0B0B0B"/>
                </a:solidFill>
                <a:latin typeface="Segoe UI"/>
              </a:rPr>
              <a:t>It keeps evolving: </a:t>
            </a:r>
            <a:r>
              <a:rPr sz="1600" b="0">
                <a:solidFill>
                  <a:srgbClr val="52514E"/>
                </a:solidFill>
                <a:latin typeface="Segoe UI"/>
              </a:rPr>
              <a:t>expect the risk assessment to keep shifting as Microsoft and SURF update it — worth rechecking, not a one-time verdict.</a:t>
            </a:r>
          </a:p>
          <a:p>
            <a:pPr marL="320040" indent="-320040">
              <a:spcAft>
                <a:spcPts val="1400"/>
              </a:spcAft>
              <a:buFont typeface="Arial"/>
              <a:buChar char="—  "/>
            </a:pPr>
            <a:r>
              <a:rPr sz="1600" b="1">
                <a:solidFill>
                  <a:srgbClr val="0B0B0B"/>
                </a:solidFill>
                <a:latin typeface="Segoe UI"/>
              </a:rPr>
              <a:t>Institutional guidance: </a:t>
            </a:r>
            <a:r>
              <a:rPr sz="1600" b="0" u="sng">
                <a:solidFill>
                  <a:srgbClr val="2A78D6"/>
                </a:solidFill>
                <a:latin typeface="Segoe UI"/>
                <a:hlinkClick r:id="rId3"/>
              </a:rPr>
              <a:t>UHasselt's AI-tools page</a:t>
            </a:r>
            <a:r>
              <a:rPr sz="1600" b="0">
                <a:solidFill>
                  <a:srgbClr val="52514E"/>
                </a:solidFill>
                <a:latin typeface="Segoe UI"/>
              </a:rPr>
              <a:t> covers what's approved, for which tool, for which use case.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48072"/>
            <a:ext cx="10424160" cy="896112"/>
          </a:xfrm>
          <a:prstGeom prst="roundRect">
            <a:avLst/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bIns="109728" rtlCol="0" anchor="ctr"/>
          <a:lstStyle/>
          <a:p>
            <a:pPr algn="l"/>
            <a:r>
              <a:rPr sz="1500" b="1" dirty="0">
                <a:solidFill>
                  <a:srgbClr val="0B0B0B"/>
                </a:solidFill>
                <a:latin typeface="Segoe UI"/>
              </a:rPr>
              <a:t>The trend is the right one: </a:t>
            </a:r>
            <a:r>
              <a:rPr sz="1500" b="0" dirty="0">
                <a:solidFill>
                  <a:srgbClr val="52514E"/>
                </a:solidFill>
                <a:latin typeface="Segoe UI"/>
              </a:rPr>
              <a:t>risk keeps dropping as the tooling matures — a reason for due diligence today, not a reason to wait.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98781"/>
                </a:solidFill>
                <a:latin typeface="Segoe UI"/>
              </a:rPr>
              <a:t>Levels of Using AI in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98781"/>
                </a:solidFill>
                <a:latin typeface="Segoe UI"/>
              </a:rPr>
              <a:t>17</a:t>
            </a:r>
          </a:p>
        </p:txBody>
      </p:sp>
      <p:pic>
        <p:nvPicPr>
          <p:cNvPr id="10" name="Picture 9" descr="cris_title_shape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6519672"/>
            <a:ext cx="771579" cy="182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2523</Words>
  <Application>Microsoft Office PowerPoint</Application>
  <PresentationFormat>Widescreen</PresentationFormat>
  <Paragraphs>272</Paragraphs>
  <Slides>17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Arial</vt:lpstr>
      <vt:lpstr>Calibri</vt:lpstr>
      <vt:lpstr>Consolas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KUYPERS Soren</cp:lastModifiedBy>
  <cp:revision>30</cp:revision>
  <dcterms:created xsi:type="dcterms:W3CDTF">2013-01-27T09:14:16Z</dcterms:created>
  <dcterms:modified xsi:type="dcterms:W3CDTF">2026-07-28T11:42:50Z</dcterms:modified>
  <cp:category/>
</cp:coreProperties>
</file>